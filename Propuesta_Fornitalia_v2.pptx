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47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9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3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s-ES_tradnl" sz="3200" noProof="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2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Flujo de Caja</a:t>
            </a:r>
            <a:endParaRPr lang="es-ES_tradnl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proyección y control de caja simple, intuitiva y ágil.</a:t>
            </a:r>
            <a:endParaRPr lang="es-ES_tradnl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propuesta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tablero de flujo de caja que permita: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Visualización  </a:t>
            </a:r>
            <a:r>
              <a:rPr lang="es-ES_tradnl" sz="1200" noProof="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 de  ingresos, egresos y resultado (G/P) por mes en ARS o USD</a:t>
            </a:r>
            <a:endParaRPr lang="es-ES_tradnl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Despliegue por categoría o cuenta contable con zoom del detalle de transacciones en un clic.</a:t>
            </a:r>
            <a:endParaRPr lang="es-ES_tradnl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Construcción de un Tablero de Control con indicadores clave del Negocio.</a:t>
            </a:r>
            <a:endParaRPr lang="es-ES_tradnl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Calculo  automático del resultado mensual proyectado y alertas de gestión automáticamente.</a:t>
            </a:r>
            <a:endParaRPr lang="es-ES_tradnl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de  datos a Excel rápida y ágil de la información relevante.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Entregables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siguientes entregables y resultados:</a:t>
            </a:r>
            <a:endParaRPr lang="es-ES_tradnl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14912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Normalización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804745" y="1489841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limpieza y normalización de datos históricos de caja (campos de moneda, categorías, cuenta contable, rubro del balance.</a:t>
            </a:r>
            <a:endParaRPr lang="es-ES_tradnl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19666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Determinación del Costo de Mercadería.</a:t>
            </a:r>
            <a:endParaRPr lang="es-ES_tradnl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3804745" y="1965329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determinación técnica del Costo de Mercadería por producto.</a:t>
            </a:r>
            <a:endParaRPr lang="es-ES_tradnl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868680" y="29176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Evolución del Negocio.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04745" y="291630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 Tablero de Control de los principales indicadores del Negocio y una vista mensual comparativa de su evolución.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" y="3393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Costo de Oportunidad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04745" y="3391793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fijar un stock de liquidez dinámico que permita rendimientos crecientes del capital inmovilizado.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2EBCD47-60BC-91AE-FD24-5F82BFDD23C9}"/>
              </a:ext>
            </a:extLst>
          </p:cNvPr>
          <p:cNvSpPr/>
          <p:nvPr/>
        </p:nvSpPr>
        <p:spPr>
          <a:xfrm>
            <a:off x="868680" y="23918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s-ES_tradnl" sz="1100" b="1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flujo de caja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C2CCE42-F187-2E57-31C7-4D1AAA6AE9DD}"/>
              </a:ext>
            </a:extLst>
          </p:cNvPr>
          <p:cNvSpPr/>
          <p:nvPr/>
        </p:nvSpPr>
        <p:spPr>
          <a:xfrm>
            <a:off x="3804745" y="239052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del </a:t>
            </a:r>
            <a:r>
              <a:rPr lang="es-ES_tradnl" sz="900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mensual (Flujo por mes, Resumen, alertas, vista por Categoría o Cuenta Contable.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Conector fuera de página 12">
            <a:extLst>
              <a:ext uri="{FF2B5EF4-FFF2-40B4-BE49-F238E27FC236}">
                <a16:creationId xmlns:a16="http://schemas.microsoft.com/office/drawing/2014/main" id="{8E689494-0A71-B375-8176-BE585E64DF59}"/>
              </a:ext>
            </a:extLst>
          </p:cNvPr>
          <p:cNvSpPr/>
          <p:nvPr/>
        </p:nvSpPr>
        <p:spPr>
          <a:xfrm rot="16200000">
            <a:off x="251519" y="1794218"/>
            <a:ext cx="888671" cy="325854"/>
          </a:xfrm>
          <a:prstGeom prst="flowChartOffpage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tx1"/>
                </a:solidFill>
              </a:rPr>
              <a:t>F</a:t>
            </a:r>
            <a:r>
              <a:rPr lang="es-ES_tradnl" sz="1500" noProof="0" dirty="0">
                <a:solidFill>
                  <a:schemeClr val="tx1"/>
                </a:solidFill>
                <a:latin typeface="Calibri" panose="020F0502020204030204" pitchFamily="34" charset="0"/>
              </a:rPr>
              <a:t>ase 1</a:t>
            </a:r>
          </a:p>
        </p:txBody>
      </p:sp>
      <p:sp>
        <p:nvSpPr>
          <p:cNvPr id="14" name="Conector fuera de página 13">
            <a:extLst>
              <a:ext uri="{FF2B5EF4-FFF2-40B4-BE49-F238E27FC236}">
                <a16:creationId xmlns:a16="http://schemas.microsoft.com/office/drawing/2014/main" id="{11710F3E-0489-8289-D881-998876B37F1F}"/>
              </a:ext>
            </a:extLst>
          </p:cNvPr>
          <p:cNvSpPr/>
          <p:nvPr/>
        </p:nvSpPr>
        <p:spPr>
          <a:xfrm rot="16200000">
            <a:off x="79673" y="2854737"/>
            <a:ext cx="1232366" cy="325858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bg2"/>
                </a:solidFill>
              </a:rPr>
              <a:t>F</a:t>
            </a:r>
            <a:r>
              <a:rPr lang="es-ES_tradnl" sz="1500" noProof="0" dirty="0">
                <a:solidFill>
                  <a:schemeClr val="bg2"/>
                </a:solidFill>
                <a:latin typeface="Calibri" panose="020F0502020204030204" pitchFamily="34" charset="0"/>
              </a:rPr>
              <a:t>ase 2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78625E0-E7EA-ADB6-94B9-B80D332C9D6D}"/>
              </a:ext>
            </a:extLst>
          </p:cNvPr>
          <p:cNvCxnSpPr/>
          <p:nvPr/>
        </p:nvCxnSpPr>
        <p:spPr>
          <a:xfrm flipV="1">
            <a:off x="882396" y="2390525"/>
            <a:ext cx="8180149" cy="1095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destacadas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Flujo por mes con ingresos, egresos, G/P, ratios y columna de interés por caución</a:t>
            </a:r>
            <a:endParaRPr lang="es-ES_tradnl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Alertas sobre Indicadores claves del negocio y potenciales errores que afectan al modelado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Vistas  evolutivas por Categoría y por Cuenta contable tanto en modo tabla como graficas.</a:t>
            </a:r>
            <a:endParaRPr lang="es-ES_tradnl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los próximos meses con método configurable (mediana/promedio, ventana rodante)</a:t>
            </a:r>
            <a:endParaRPr lang="es-ES_tradnl" sz="1100" noProof="0" dirty="0"/>
          </a:p>
        </p:txBody>
      </p:sp>
      <p:sp>
        <p:nvSpPr>
          <p:cNvPr id="14" name="Text 11"/>
          <p:cNvSpPr/>
          <p:nvPr/>
        </p:nvSpPr>
        <p:spPr>
          <a:xfrm>
            <a:off x="662940" y="34930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a Excel de toda la información relevante del negocio.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37794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43484" y="64693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Fase 1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expresados  en USD.</a:t>
            </a:r>
            <a:endParaRPr lang="es-ES_tradnl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32174"/>
              </p:ext>
            </p:extLst>
          </p:nvPr>
        </p:nvGraphicFramePr>
        <p:xfrm>
          <a:off x="502920" y="1516380"/>
          <a:ext cx="8229600" cy="185928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Horas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 y modelado técnico.</a:t>
                      </a:r>
                      <a:endParaRPr lang="es-ES_tradnl" sz="10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15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1.500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Re-clasificación de categorías y cuentas contables . (Alineación al balance de la empresa).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6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Limpieza y normalización de datos a la nueva clasificación sobre datos existentes (duplicados, transaccione obligatorias faltantes , </a:t>
                      </a:r>
                      <a:r>
                        <a:rPr lang="es-ES_tradnl" sz="1000" noProof="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etc</a:t>
                      </a: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 ) + Asesoramiento técnico y acompañamiento al equipo de Sistemas.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89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Relevamiento de las estaciones de carga de datos del sistema. Construcción documental de la Matriz de Roles, Tipo de Operación, y Datos Críticos.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62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Requerimiento de nuevas validaciones sobre datos críticos del sistema.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442091"/>
                  </a:ext>
                </a:extLst>
              </a:tr>
            </a:tbl>
          </a:graphicData>
        </a:graphic>
      </p:graphicFrame>
      <p:sp>
        <p:nvSpPr>
          <p:cNvPr id="11" name="Text 11">
            <a:extLst>
              <a:ext uri="{FF2B5EF4-FFF2-40B4-BE49-F238E27FC236}">
                <a16:creationId xmlns:a16="http://schemas.microsoft.com/office/drawing/2014/main" id="{A064824F-A252-2A26-42E4-B9CF16CF8F64}"/>
              </a:ext>
            </a:extLst>
          </p:cNvPr>
          <p:cNvSpPr/>
          <p:nvPr/>
        </p:nvSpPr>
        <p:spPr>
          <a:xfrm>
            <a:off x="502920" y="3673761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capacitación y supervisión de la gestión adecuada de actividades del personal. 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Definición de alcance y prioridades según su necesidad.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Ajuste de presupuesto y plazos en función del alcance y disponibilidad.</a:t>
            </a:r>
            <a:endParaRPr lang="es-ES_tradnl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Desarrollo por fases con entregas parciales y revisión continua.</a:t>
            </a:r>
            <a:endParaRPr lang="es-ES_tradnl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800" b="1" noProof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confianza.</a:t>
            </a:r>
            <a:endParaRPr lang="es-ES_tradnl" sz="1800" noProof="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L&amp;P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3813</TotalTime>
  <Words>569</Words>
  <Application>Microsoft Macintosh PowerPoint</Application>
  <PresentationFormat>Presentación en pantalla (4:3)</PresentationFormat>
  <Paragraphs>69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19</cp:revision>
  <dcterms:created xsi:type="dcterms:W3CDTF">2026-03-02T04:09:32Z</dcterms:created>
  <dcterms:modified xsi:type="dcterms:W3CDTF">2026-03-10T12:00:17Z</dcterms:modified>
</cp:coreProperties>
</file>