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138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3932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ucasb/Escritorio - MacBook Air de Lucas/Fornitalia/favicon.sv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8600" y="22860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_tradnl" sz="3200" b="1" noProof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trabajo</a:t>
            </a:r>
            <a:endParaRPr lang="es-ES_tradnl" sz="3200" noProof="1"/>
          </a:p>
        </p:txBody>
      </p:sp>
      <p:sp>
        <p:nvSpPr>
          <p:cNvPr id="4" name="Text 1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_tradnl" sz="2400" noProof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 Flujo de Caja</a:t>
            </a:r>
            <a:endParaRPr lang="es-ES_tradnl" sz="2400" noProof="1"/>
          </a:p>
        </p:txBody>
      </p:sp>
      <p:sp>
        <p:nvSpPr>
          <p:cNvPr id="5" name="Text 2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_tradnl" sz="1400" noProof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Visualización, proyección y control de caja simple, intuitiva y ágil.</a:t>
            </a:r>
            <a:endParaRPr lang="es-ES_tradnl" sz="1400" noProof="1"/>
          </a:p>
        </p:txBody>
      </p:sp>
      <p:sp>
        <p:nvSpPr>
          <p:cNvPr id="6" name="Text 3"/>
          <p:cNvSpPr/>
          <p:nvPr/>
        </p:nvSpPr>
        <p:spPr>
          <a:xfrm>
            <a:off x="457200" y="6309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_tradnl" sz="800" i="1" noProof="1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Developed by L&amp;P Financial Consulting</a:t>
            </a:r>
            <a:endParaRPr lang="es-ES_tradnl" sz="8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13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3" name="Shape 1"/>
          <p:cNvSpPr/>
          <p:nvPr/>
        </p:nvSpPr>
        <p:spPr>
          <a:xfrm>
            <a:off x="443484" y="123444"/>
            <a:ext cx="438912" cy="438912"/>
          </a:xfrm>
          <a:prstGeom prst="ellipse">
            <a:avLst/>
          </a:prstGeom>
          <a:solidFill>
            <a:srgbClr val="0D2137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pic>
        <p:nvPicPr>
          <p:cNvPr id="4" name="Image 0" descr="/Users/lucasb/Escritorio - MacBook Air de Lucas/Fornitalia/favicon.sv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" y="137160"/>
            <a:ext cx="411480" cy="411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080760"/>
            <a:ext cx="9144000" cy="777240"/>
          </a:xfrm>
          <a:prstGeom prst="rect">
            <a:avLst/>
          </a:prstGeom>
          <a:solidFill>
            <a:srgbClr val="0D213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6" name="Text 3"/>
          <p:cNvSpPr/>
          <p:nvPr/>
        </p:nvSpPr>
        <p:spPr>
          <a:xfrm>
            <a:off x="457200" y="6217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800" i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Developed by L&amp;P Financial Consulting</a:t>
            </a:r>
            <a:endParaRPr lang="es-ES_tradnl" sz="800" noProof="1"/>
          </a:p>
        </p:txBody>
      </p:sp>
      <p:sp>
        <p:nvSpPr>
          <p:cNvPr id="7" name="Text 4"/>
          <p:cNvSpPr/>
          <p:nvPr/>
        </p:nvSpPr>
        <p:spPr>
          <a:xfrm>
            <a:off x="960120" y="1143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24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de la propuesta</a:t>
            </a:r>
            <a:endParaRPr lang="es-ES_tradnl" sz="2400" noProof="1"/>
          </a:p>
        </p:txBody>
      </p:sp>
      <p:sp>
        <p:nvSpPr>
          <p:cNvPr id="8" name="Text 5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400" noProof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un tablero de flujo de caja que permita:</a:t>
            </a:r>
            <a:endParaRPr lang="es-ES_tradnl" sz="1400" noProof="1"/>
          </a:p>
        </p:txBody>
      </p:sp>
      <p:sp>
        <p:nvSpPr>
          <p:cNvPr id="9" name="Text 6"/>
          <p:cNvSpPr/>
          <p:nvPr/>
        </p:nvSpPr>
        <p:spPr>
          <a:xfrm>
            <a:off x="640080" y="16916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ES_tradnl" sz="1200" noProof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Visualizar ingresos, egresos y resultado (G/P) por mes en ARS o USD</a:t>
            </a:r>
            <a:endParaRPr lang="es-ES_tradnl" sz="1200" noProof="1"/>
          </a:p>
        </p:txBody>
      </p:sp>
      <p:sp>
        <p:nvSpPr>
          <p:cNvPr id="10" name="Text 7"/>
          <p:cNvSpPr/>
          <p:nvPr/>
        </p:nvSpPr>
        <p:spPr>
          <a:xfrm>
            <a:off x="640080" y="23774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ES_tradnl" sz="1200" noProof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Analizar por categoría y por cuenta contable con detalle de transacciones</a:t>
            </a:r>
            <a:endParaRPr lang="es-ES_tradnl" sz="1200" noProof="1"/>
          </a:p>
        </p:txBody>
      </p:sp>
      <p:sp>
        <p:nvSpPr>
          <p:cNvPr id="11" name="Text 8"/>
          <p:cNvSpPr/>
          <p:nvPr/>
        </p:nvSpPr>
        <p:spPr>
          <a:xfrm>
            <a:off x="640080" y="30632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ES_tradnl" sz="1200" noProof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Construir un Tablero de Control con indicadores clave del Negocio.</a:t>
            </a:r>
            <a:endParaRPr lang="es-ES_tradnl" sz="1200" noProof="1"/>
          </a:p>
        </p:txBody>
      </p:sp>
      <p:sp>
        <p:nvSpPr>
          <p:cNvPr id="12" name="Text 9"/>
          <p:cNvSpPr/>
          <p:nvPr/>
        </p:nvSpPr>
        <p:spPr>
          <a:xfrm>
            <a:off x="640080" y="37490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ES_tradnl" sz="1200" noProof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Calcular resultados proyectados y alertas de gestión automáticamente.</a:t>
            </a:r>
            <a:endParaRPr lang="es-ES_tradnl" sz="1200" noProof="1"/>
          </a:p>
        </p:txBody>
      </p:sp>
      <p:sp>
        <p:nvSpPr>
          <p:cNvPr id="13" name="Text 10"/>
          <p:cNvSpPr/>
          <p:nvPr/>
        </p:nvSpPr>
        <p:spPr>
          <a:xfrm>
            <a:off x="640080" y="44348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ES_tradnl" sz="1200" noProof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Exportar datos a Excel y operar con un único punto de verdad en la nube</a:t>
            </a:r>
            <a:endParaRPr lang="es-ES_tradnl" sz="120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13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3" name="Shape 1"/>
          <p:cNvSpPr/>
          <p:nvPr/>
        </p:nvSpPr>
        <p:spPr>
          <a:xfrm>
            <a:off x="443484" y="123444"/>
            <a:ext cx="438912" cy="438912"/>
          </a:xfrm>
          <a:prstGeom prst="ellipse">
            <a:avLst/>
          </a:prstGeom>
          <a:solidFill>
            <a:srgbClr val="0D2137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pic>
        <p:nvPicPr>
          <p:cNvPr id="4" name="Image 0" descr="/Users/lucasb/Escritorio - MacBook Air de Lucas/Fornitalia/favicon.sv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" y="137160"/>
            <a:ext cx="411480" cy="411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080760"/>
            <a:ext cx="9144000" cy="777240"/>
          </a:xfrm>
          <a:prstGeom prst="rect">
            <a:avLst/>
          </a:prstGeom>
          <a:solidFill>
            <a:srgbClr val="0D213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6" name="Text 3"/>
          <p:cNvSpPr/>
          <p:nvPr/>
        </p:nvSpPr>
        <p:spPr>
          <a:xfrm>
            <a:off x="457200" y="6217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800" i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Developed by L&amp;P Financial Consulting</a:t>
            </a:r>
            <a:endParaRPr lang="es-ES_tradnl" sz="800" noProof="1"/>
          </a:p>
        </p:txBody>
      </p:sp>
      <p:sp>
        <p:nvSpPr>
          <p:cNvPr id="7" name="Text 4"/>
          <p:cNvSpPr/>
          <p:nvPr/>
        </p:nvSpPr>
        <p:spPr>
          <a:xfrm>
            <a:off x="960120" y="1143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24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— Entregables</a:t>
            </a:r>
            <a:endParaRPr lang="es-ES_tradnl" sz="2400" noProof="1"/>
          </a:p>
        </p:txBody>
      </p:sp>
      <p:sp>
        <p:nvSpPr>
          <p:cNvPr id="8" name="Text 5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200" noProof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Incluye los siguientes entregables y resultados:</a:t>
            </a:r>
            <a:endParaRPr lang="es-ES_tradnl" sz="1200" noProof="1"/>
          </a:p>
        </p:txBody>
      </p:sp>
      <p:sp>
        <p:nvSpPr>
          <p:cNvPr id="9" name="Text 6"/>
          <p:cNvSpPr/>
          <p:nvPr/>
        </p:nvSpPr>
        <p:spPr>
          <a:xfrm>
            <a:off x="457200" y="1463040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ES_tradnl" sz="1100" b="1" noProof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Normalización de datos.</a:t>
            </a:r>
            <a:endParaRPr lang="es-ES_tradnl" sz="1100" noProof="1"/>
          </a:p>
        </p:txBody>
      </p:sp>
      <p:sp>
        <p:nvSpPr>
          <p:cNvPr id="10" name="Text 7"/>
          <p:cNvSpPr/>
          <p:nvPr/>
        </p:nvSpPr>
        <p:spPr>
          <a:xfrm>
            <a:off x="3657600" y="1463040"/>
            <a:ext cx="5257800" cy="4389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s-ES_tradnl" sz="900" noProof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Relevamiento, limpieza y normalización de datos históricos de caja (campos de moneda, categorías, cuenta contable, rubro del balance.</a:t>
            </a:r>
            <a:endParaRPr lang="es-ES_tradnl" sz="900" noProof="1"/>
          </a:p>
        </p:txBody>
      </p:sp>
      <p:sp>
        <p:nvSpPr>
          <p:cNvPr id="11" name="Text 8"/>
          <p:cNvSpPr/>
          <p:nvPr/>
        </p:nvSpPr>
        <p:spPr>
          <a:xfrm>
            <a:off x="457200" y="1938528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ES_tradnl" sz="1100" b="1" noProof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Determinacion del Costo de Merecaderia.</a:t>
            </a:r>
            <a:endParaRPr lang="es-ES_tradnl" sz="1100" noProof="1"/>
          </a:p>
        </p:txBody>
      </p:sp>
      <p:sp>
        <p:nvSpPr>
          <p:cNvPr id="12" name="Text 9"/>
          <p:cNvSpPr/>
          <p:nvPr/>
        </p:nvSpPr>
        <p:spPr>
          <a:xfrm>
            <a:off x="3657600" y="1938528"/>
            <a:ext cx="5257800" cy="4389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s-ES_tradnl" sz="900" noProof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y determinación técnica del Costo de Mercaderia por producto.</a:t>
            </a:r>
            <a:endParaRPr lang="es-ES_tradnl" sz="900" noProof="1"/>
          </a:p>
        </p:txBody>
      </p:sp>
      <p:sp>
        <p:nvSpPr>
          <p:cNvPr id="15" name="Text 12"/>
          <p:cNvSpPr/>
          <p:nvPr/>
        </p:nvSpPr>
        <p:spPr>
          <a:xfrm>
            <a:off x="457200" y="2889504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ES_tradnl" sz="1100" b="1" noProof="1">
                <a:solidFill>
                  <a:schemeClr val="bg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Evolución del Negocio.</a:t>
            </a:r>
            <a:endParaRPr lang="es-ES_tradnl" sz="1100" noProof="1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6" name="Text 13"/>
          <p:cNvSpPr/>
          <p:nvPr/>
        </p:nvSpPr>
        <p:spPr>
          <a:xfrm>
            <a:off x="3657600" y="2889504"/>
            <a:ext cx="5257800" cy="4389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s-ES_tradnl" sz="900" noProof="1">
                <a:solidFill>
                  <a:schemeClr val="bg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Contruccion de un Tablero de Control de los principales indicadores del Negocio y una vista mensual comparativa de su evolución.</a:t>
            </a:r>
            <a:endParaRPr lang="es-ES_tradnl" sz="900" noProof="1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7" name="Text 14"/>
          <p:cNvSpPr/>
          <p:nvPr/>
        </p:nvSpPr>
        <p:spPr>
          <a:xfrm>
            <a:off x="457200" y="3364992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ES_tradnl" sz="1100" b="1" noProof="1">
                <a:solidFill>
                  <a:schemeClr val="bg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Costo de Oportunidad</a:t>
            </a:r>
            <a:endParaRPr lang="es-ES_tradnl" sz="1100" noProof="1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8" name="Text 15"/>
          <p:cNvSpPr/>
          <p:nvPr/>
        </p:nvSpPr>
        <p:spPr>
          <a:xfrm>
            <a:off x="3657600" y="3364992"/>
            <a:ext cx="5257800" cy="4389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s-ES_tradnl" sz="900" noProof="1">
                <a:solidFill>
                  <a:schemeClr val="bg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y fijar un stock de liquidez dinamico que permita rendimientos crecientes del capital inmovilizado.</a:t>
            </a:r>
            <a:endParaRPr lang="es-ES_tradnl" sz="900" noProof="1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7" name="Text 8">
            <a:extLst>
              <a:ext uri="{FF2B5EF4-FFF2-40B4-BE49-F238E27FC236}">
                <a16:creationId xmlns:a16="http://schemas.microsoft.com/office/drawing/2014/main" id="{F2EBCD47-60BC-91AE-FD24-5F82BFDD23C9}"/>
              </a:ext>
            </a:extLst>
          </p:cNvPr>
          <p:cNvSpPr/>
          <p:nvPr/>
        </p:nvSpPr>
        <p:spPr>
          <a:xfrm>
            <a:off x="457200" y="2363724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ES_tradnl" sz="1100" b="1" noProof="1">
                <a:solidFill>
                  <a:schemeClr val="bg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Dashboard flujo de caja</a:t>
            </a:r>
            <a:endParaRPr lang="es-ES_tradnl" sz="1100" noProof="1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8" name="Text 9">
            <a:extLst>
              <a:ext uri="{FF2B5EF4-FFF2-40B4-BE49-F238E27FC236}">
                <a16:creationId xmlns:a16="http://schemas.microsoft.com/office/drawing/2014/main" id="{8C2CCE42-F187-2E57-31C7-4D1AAA6AE9DD}"/>
              </a:ext>
            </a:extLst>
          </p:cNvPr>
          <p:cNvSpPr/>
          <p:nvPr/>
        </p:nvSpPr>
        <p:spPr>
          <a:xfrm>
            <a:off x="3657600" y="2363724"/>
            <a:ext cx="5257800" cy="4389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s-ES_tradnl" sz="900" noProof="1">
                <a:solidFill>
                  <a:schemeClr val="bg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y desarrollo del dashboard mensual (Flujo por mes, Resumen, alertas, vista por Categoría o Cuenta Contable.</a:t>
            </a:r>
            <a:endParaRPr lang="es-ES_tradnl" sz="900" noProof="1">
              <a:solidFill>
                <a:schemeClr val="bg2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13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3" name="Shape 1"/>
          <p:cNvSpPr/>
          <p:nvPr/>
        </p:nvSpPr>
        <p:spPr>
          <a:xfrm>
            <a:off x="443484" y="123444"/>
            <a:ext cx="438912" cy="438912"/>
          </a:xfrm>
          <a:prstGeom prst="ellipse">
            <a:avLst/>
          </a:prstGeom>
          <a:solidFill>
            <a:srgbClr val="0D2137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pic>
        <p:nvPicPr>
          <p:cNvPr id="4" name="Image 0" descr="/Users/lucasb/Escritorio - MacBook Air de Lucas/Fornitalia/favicon.sv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" y="137160"/>
            <a:ext cx="411480" cy="411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080760"/>
            <a:ext cx="9144000" cy="777240"/>
          </a:xfrm>
          <a:prstGeom prst="rect">
            <a:avLst/>
          </a:prstGeom>
          <a:solidFill>
            <a:srgbClr val="0D213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6" name="Text 3"/>
          <p:cNvSpPr/>
          <p:nvPr/>
        </p:nvSpPr>
        <p:spPr>
          <a:xfrm>
            <a:off x="457200" y="6217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800" i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Developed by L&amp;P Financial Consulting</a:t>
            </a:r>
            <a:endParaRPr lang="es-ES_tradnl" sz="800" noProof="1"/>
          </a:p>
        </p:txBody>
      </p:sp>
      <p:sp>
        <p:nvSpPr>
          <p:cNvPr id="7" name="Text 4"/>
          <p:cNvSpPr/>
          <p:nvPr/>
        </p:nvSpPr>
        <p:spPr>
          <a:xfrm>
            <a:off x="960120" y="1143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24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 destacadas</a:t>
            </a:r>
            <a:endParaRPr lang="es-ES_tradnl" sz="2400" noProof="1"/>
          </a:p>
        </p:txBody>
      </p:sp>
      <p:sp>
        <p:nvSpPr>
          <p:cNvPr id="8" name="Text 5"/>
          <p:cNvSpPr/>
          <p:nvPr/>
        </p:nvSpPr>
        <p:spPr>
          <a:xfrm>
            <a:off x="640080" y="123444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ES_tradnl" sz="1100" noProof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Flujo por mes con ingresos, egresos, G/P, ratios y columna de interés por caución</a:t>
            </a:r>
            <a:endParaRPr lang="es-ES_tradnl" sz="1100" noProof="1"/>
          </a:p>
        </p:txBody>
      </p:sp>
      <p:sp>
        <p:nvSpPr>
          <p:cNvPr id="9" name="Text 6"/>
          <p:cNvSpPr/>
          <p:nvPr/>
        </p:nvSpPr>
        <p:spPr>
          <a:xfrm>
            <a:off x="640080" y="1764792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ES_tradnl" sz="1100" noProof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Alertas sobre Indicadores claves del negocio y potenciales errores que afectan al modelado de datos.</a:t>
            </a:r>
            <a:endParaRPr lang="es-ES_tradnl" sz="1100" noProof="1"/>
          </a:p>
        </p:txBody>
      </p:sp>
      <p:sp>
        <p:nvSpPr>
          <p:cNvPr id="10" name="Text 7"/>
          <p:cNvSpPr/>
          <p:nvPr/>
        </p:nvSpPr>
        <p:spPr>
          <a:xfrm>
            <a:off x="640080" y="2295144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ES_tradnl" sz="1100" noProof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Vistas  evoluticas por Categoría y por Cuenta contable tando en modo tabla como graficas.</a:t>
            </a:r>
            <a:endParaRPr lang="es-ES_tradnl" sz="1100" noProof="1"/>
          </a:p>
        </p:txBody>
      </p:sp>
      <p:sp>
        <p:nvSpPr>
          <p:cNvPr id="13" name="Text 10"/>
          <p:cNvSpPr/>
          <p:nvPr/>
        </p:nvSpPr>
        <p:spPr>
          <a:xfrm>
            <a:off x="640080" y="2862072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ES_tradnl" sz="1100" noProof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Proyección de los próximos meses con método configurable (mediana/promedio, ventana rodante)</a:t>
            </a:r>
            <a:endParaRPr lang="es-ES_tradnl" sz="1100" noProof="1"/>
          </a:p>
        </p:txBody>
      </p:sp>
      <p:sp>
        <p:nvSpPr>
          <p:cNvPr id="14" name="Text 11"/>
          <p:cNvSpPr/>
          <p:nvPr/>
        </p:nvSpPr>
        <p:spPr>
          <a:xfrm>
            <a:off x="662940" y="3493008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ES_tradnl" sz="1100" noProof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Exportación a Excel de toda la información relevante del negocio.</a:t>
            </a:r>
            <a:endParaRPr lang="es-ES_tradnl" sz="110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13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3" name="Shape 1"/>
          <p:cNvSpPr/>
          <p:nvPr/>
        </p:nvSpPr>
        <p:spPr>
          <a:xfrm>
            <a:off x="443484" y="123444"/>
            <a:ext cx="438912" cy="438912"/>
          </a:xfrm>
          <a:prstGeom prst="ellipse">
            <a:avLst/>
          </a:prstGeom>
          <a:solidFill>
            <a:srgbClr val="0D2137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pic>
        <p:nvPicPr>
          <p:cNvPr id="4" name="Image 0" descr="/Users/lucasb/Escritorio - MacBook Air de Lucas/Fornitalia/favicon.sv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" y="137160"/>
            <a:ext cx="411480" cy="411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080760"/>
            <a:ext cx="9144000" cy="777240"/>
          </a:xfrm>
          <a:prstGeom prst="rect">
            <a:avLst/>
          </a:prstGeom>
          <a:solidFill>
            <a:srgbClr val="0D213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6" name="Text 3"/>
          <p:cNvSpPr/>
          <p:nvPr/>
        </p:nvSpPr>
        <p:spPr>
          <a:xfrm>
            <a:off x="457200" y="6217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800" i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Developed by L&amp;P Financial Consulting</a:t>
            </a:r>
            <a:endParaRPr lang="es-ES_tradnl" sz="800" noProof="1"/>
          </a:p>
        </p:txBody>
      </p:sp>
      <p:sp>
        <p:nvSpPr>
          <p:cNvPr id="7" name="Text 4"/>
          <p:cNvSpPr/>
          <p:nvPr/>
        </p:nvSpPr>
        <p:spPr>
          <a:xfrm>
            <a:off x="960120" y="1143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24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 Inicial</a:t>
            </a:r>
            <a:endParaRPr lang="es-ES_tradnl" sz="2400" noProof="1"/>
          </a:p>
        </p:txBody>
      </p:sp>
      <p:sp>
        <p:nvSpPr>
          <p:cNvPr id="8" name="Text 5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000" noProof="1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 hombre e importes en USD según bitácora.</a:t>
            </a:r>
            <a:endParaRPr lang="es-ES_tradnl" sz="1000" noProof="1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9653605"/>
              </p:ext>
            </p:extLst>
          </p:nvPr>
        </p:nvGraphicFramePr>
        <p:xfrm>
          <a:off x="457200" y="1417320"/>
          <a:ext cx="8229600" cy="1778000"/>
        </p:xfrm>
        <a:graphic>
          <a:graphicData uri="http://schemas.openxmlformats.org/drawingml/2006/table">
            <a:tbl>
              <a:tblPr/>
              <a:tblGrid>
                <a:gridCol w="6217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_tradnl" sz="1000" noProof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Entregable</a:t>
                      </a:r>
                      <a:endParaRPr lang="es-ES_tradnl" sz="10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_tradnl" sz="1000" noProof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 Horas</a:t>
                      </a:r>
                      <a:endParaRPr lang="es-ES_tradnl" sz="10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_tradnl" sz="1000" noProof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Importe (USD)</a:t>
                      </a:r>
                      <a:endParaRPr lang="es-ES_tradnl" sz="10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_tradnl" sz="1000" noProof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Normalización de datos</a:t>
                      </a:r>
                      <a:endParaRPr lang="es-ES_tradnl" sz="10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_tradnl" sz="1000" noProof="1">
                          <a:solidFill>
                            <a:srgbClr val="000000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20</a:t>
                      </a:r>
                      <a:endParaRPr lang="es-ES_tradnl" sz="10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_tradnl" sz="1000" noProof="1">
                          <a:solidFill>
                            <a:srgbClr val="000000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2.000</a:t>
                      </a:r>
                      <a:endParaRPr lang="es-ES_tradnl" sz="10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_tradnl" sz="1000" b="1" noProof="1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Determinacion del Costo de Merecaderia.</a:t>
                      </a:r>
                      <a:endParaRPr lang="es-ES_tradnl" sz="10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_tradnl" sz="1000" noProof="1">
                          <a:solidFill>
                            <a:srgbClr val="000000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10</a:t>
                      </a:r>
                      <a:endParaRPr lang="es-ES_tradnl" sz="10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_tradnl" sz="1000" noProof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s-ES_tradnl" sz="10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_tradnl" sz="1000" b="1" noProof="1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flujo de caja</a:t>
                      </a:r>
                      <a:endParaRPr lang="es-ES_tradnl" sz="10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_tradnl" sz="1000" noProof="1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Fase 2</a:t>
                      </a:r>
                      <a:endParaRPr lang="es-ES_tradnl" sz="1000" noProof="1">
                        <a:solidFill>
                          <a:schemeClr val="bg2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_tradnl" sz="1000" noProof="1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Aplica</a:t>
                      </a:r>
                      <a:endParaRPr lang="es-ES_tradnl" sz="1000" noProof="1">
                        <a:solidFill>
                          <a:schemeClr val="bg2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_tradnl" sz="1000" b="1" noProof="1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Evolución del Negocio.</a:t>
                      </a:r>
                      <a:endParaRPr lang="es-ES_tradnl" sz="10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_tradnl" sz="1000" noProof="1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Fase 2</a:t>
                      </a:r>
                      <a:endParaRPr lang="es-ES_tradnl" sz="1000" noProof="1">
                        <a:solidFill>
                          <a:schemeClr val="bg2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_tradnl" sz="1000" noProof="1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Aplica</a:t>
                      </a:r>
                      <a:endParaRPr lang="es-ES_tradnl" sz="1000" noProof="1">
                        <a:solidFill>
                          <a:schemeClr val="bg2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_tradnl" sz="1000" b="1" noProof="1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Costo de Oportunidad</a:t>
                      </a:r>
                      <a:endParaRPr lang="es-ES_tradnl" sz="10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_tradnl" sz="1000" noProof="1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Fase 2</a:t>
                      </a:r>
                      <a:endParaRPr lang="es-ES_tradnl" sz="1000" noProof="1">
                        <a:solidFill>
                          <a:schemeClr val="bg2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_tradnl" sz="1000" noProof="1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Aplica</a:t>
                      </a:r>
                      <a:endParaRPr lang="es-ES_tradnl" sz="1000" noProof="1">
                        <a:solidFill>
                          <a:schemeClr val="bg2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_tradnl" sz="1000" b="1" noProof="1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Honorario de asesramiento mensual</a:t>
                      </a:r>
                      <a:endParaRPr lang="es-ES_tradnl" sz="1000" b="1" noProof="1">
                        <a:solidFill>
                          <a:schemeClr val="bg2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_tradnl" sz="1000" noProof="1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Fase 3</a:t>
                      </a:r>
                      <a:endParaRPr lang="es-ES_tradnl" sz="1000" noProof="1">
                        <a:solidFill>
                          <a:schemeClr val="bg2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_tradnl" sz="1000" noProof="1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Aplica</a:t>
                      </a:r>
                      <a:endParaRPr lang="es-ES_tradnl" sz="1000" noProof="1">
                        <a:solidFill>
                          <a:schemeClr val="bg2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443484" y="3296921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200" b="1" noProof="1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25 horas hombre · 2,500 USD</a:t>
            </a:r>
            <a:endParaRPr lang="es-ES_tradnl" sz="120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13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3" name="Shape 1"/>
          <p:cNvSpPr/>
          <p:nvPr/>
        </p:nvSpPr>
        <p:spPr>
          <a:xfrm>
            <a:off x="443484" y="123444"/>
            <a:ext cx="438912" cy="438912"/>
          </a:xfrm>
          <a:prstGeom prst="ellipse">
            <a:avLst/>
          </a:prstGeom>
          <a:solidFill>
            <a:srgbClr val="0D2137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pic>
        <p:nvPicPr>
          <p:cNvPr id="4" name="Image 0" descr="/Users/lucasb/Escritorio - MacBook Air de Lucas/Fornitalia/favicon.sv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" y="137160"/>
            <a:ext cx="411480" cy="411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080760"/>
            <a:ext cx="9144000" cy="777240"/>
          </a:xfrm>
          <a:prstGeom prst="rect">
            <a:avLst/>
          </a:prstGeom>
          <a:solidFill>
            <a:srgbClr val="0D213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6" name="Text 3"/>
          <p:cNvSpPr/>
          <p:nvPr/>
        </p:nvSpPr>
        <p:spPr>
          <a:xfrm>
            <a:off x="457200" y="6217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800" i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Developed by L&amp;P Financial Consulting</a:t>
            </a:r>
            <a:endParaRPr lang="es-ES_tradnl" sz="800" noProof="1"/>
          </a:p>
        </p:txBody>
      </p:sp>
      <p:sp>
        <p:nvSpPr>
          <p:cNvPr id="7" name="Text 4"/>
          <p:cNvSpPr/>
          <p:nvPr/>
        </p:nvSpPr>
        <p:spPr>
          <a:xfrm>
            <a:off x="960120" y="1143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24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s-ES_tradnl" sz="2400" noProof="1"/>
          </a:p>
        </p:txBody>
      </p:sp>
      <p:sp>
        <p:nvSpPr>
          <p:cNvPr id="8" name="Text 5"/>
          <p:cNvSpPr/>
          <p:nvPr/>
        </p:nvSpPr>
        <p:spPr>
          <a:xfrm>
            <a:off x="640080" y="13716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400" noProof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Definición de alcance y prioridades según su necesidad.</a:t>
            </a:r>
            <a:endParaRPr lang="es-ES_tradnl" sz="1400" noProof="1"/>
          </a:p>
        </p:txBody>
      </p:sp>
      <p:sp>
        <p:nvSpPr>
          <p:cNvPr id="9" name="Text 6"/>
          <p:cNvSpPr/>
          <p:nvPr/>
        </p:nvSpPr>
        <p:spPr>
          <a:xfrm>
            <a:off x="640080" y="19202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400" noProof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Ajuste de presupuesto y plazos en función del alcance y disponibilidad.</a:t>
            </a:r>
            <a:endParaRPr lang="es-ES_tradnl" sz="1400" noProof="1"/>
          </a:p>
        </p:txBody>
      </p:sp>
      <p:sp>
        <p:nvSpPr>
          <p:cNvPr id="10" name="Text 7"/>
          <p:cNvSpPr/>
          <p:nvPr/>
        </p:nvSpPr>
        <p:spPr>
          <a:xfrm>
            <a:off x="640080" y="246888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400" noProof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Desarrollo por fases con entregas parciales y revisión continua.</a:t>
            </a:r>
            <a:endParaRPr lang="es-ES_tradnl" sz="1400" noProof="1"/>
          </a:p>
        </p:txBody>
      </p:sp>
      <p:sp>
        <p:nvSpPr>
          <p:cNvPr id="11" name="Text 8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_tradnl" sz="1800" b="1" noProof="1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 por su confianza.</a:t>
            </a:r>
            <a:endParaRPr lang="es-ES_tradnl" sz="1800" noProof="1"/>
          </a:p>
        </p:txBody>
      </p:sp>
      <p:sp>
        <p:nvSpPr>
          <p:cNvPr id="12" name="Text 9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_tradnl" sz="1200" noProof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L&amp;P Financial Consulting</a:t>
            </a:r>
            <a:endParaRPr lang="es-ES_tradnl" sz="12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2868</TotalTime>
  <Words>493</Words>
  <Application>Microsoft Macintosh PowerPoint</Application>
  <PresentationFormat>Presentación en pantalla (4:3)</PresentationFormat>
  <Paragraphs>70</Paragraphs>
  <Slides>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Propuesta de trabajo — Dashboard Flujo de Caja</dc:title>
  <dc:subject>PptxGenJS Presentation</dc:subject>
  <dc:creator>L&amp;P Financial Consulting</dc:creator>
  <cp:lastModifiedBy>Lucas Bustos</cp:lastModifiedBy>
  <cp:revision>6</cp:revision>
  <dcterms:created xsi:type="dcterms:W3CDTF">2026-03-02T04:09:32Z</dcterms:created>
  <dcterms:modified xsi:type="dcterms:W3CDTF">2026-03-04T14:34:07Z</dcterms:modified>
</cp:coreProperties>
</file>