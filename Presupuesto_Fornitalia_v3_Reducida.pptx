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0" r:id="rId2"/>
    <p:sldId id="261" r:id="rId3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463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4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93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377940"/>
            <a:ext cx="9144000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43484" y="64693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Fase 1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10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hombre e importes expresados  en USD.</a:t>
            </a:r>
            <a:endParaRPr lang="es-ES_tradnl" sz="1000" noProof="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332174"/>
              </p:ext>
            </p:extLst>
          </p:nvPr>
        </p:nvGraphicFramePr>
        <p:xfrm>
          <a:off x="502920" y="1516380"/>
          <a:ext cx="8229600" cy="1859280"/>
        </p:xfrm>
        <a:graphic>
          <a:graphicData uri="http://schemas.openxmlformats.org/drawingml/2006/table">
            <a:tbl>
              <a:tblPr/>
              <a:tblGrid>
                <a:gridCol w="621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Entregable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Horas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Importe (USD)</a:t>
                      </a:r>
                      <a:endParaRPr lang="es-ES_tradnl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ES_tradnl" sz="10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Normalización de datos y modelado técnico.</a:t>
                      </a:r>
                      <a:endParaRPr lang="es-ES_tradnl" sz="10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15</a:t>
                      </a:r>
                      <a:endParaRPr lang="es-ES_tradnl" sz="12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2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1.500</a:t>
                      </a:r>
                      <a:endParaRPr lang="es-ES_tradnl" sz="12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Re-clasificación de categorías y cuentas contables . (Alineación al balance de la empresa).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300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3061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Limpieza y normalización de datos a la nueva clasificación sobre datos existentes (duplicados, transaccione obligatorias faltantes , </a:t>
                      </a:r>
                      <a:r>
                        <a:rPr lang="es-ES_tradnl" sz="1000" noProof="0" dirty="0" err="1">
                          <a:latin typeface="Calibri" charset="0"/>
                          <a:ea typeface="Calibri" charset="0"/>
                          <a:cs typeface="Calibri" charset="0"/>
                        </a:rPr>
                        <a:t>etc</a:t>
                      </a: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 ) + Asesoramiento técnico y acompañamiento al equipo de Sistemas.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6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600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5892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Relevamiento de las estaciones de carga de datos del sistema. Construcción documental de la Matriz de Roles, Tipo de Operación, y Datos Críticos.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latin typeface="Calibri" charset="0"/>
                          <a:ea typeface="Calibri" charset="0"/>
                          <a:cs typeface="Calibri" charset="0"/>
                        </a:rPr>
                        <a:t>400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620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28650" lvl="1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s-ES_tradnl" sz="100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Requerimiento de nuevas validaciones sobre datos críticos del sistema.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b="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ES_tradnl" sz="1000" noProof="0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200</a:t>
                      </a: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442091"/>
                  </a:ext>
                </a:extLst>
              </a:tr>
            </a:tbl>
          </a:graphicData>
        </a:graphic>
      </p:graphicFrame>
      <p:sp>
        <p:nvSpPr>
          <p:cNvPr id="11" name="Text 11">
            <a:extLst>
              <a:ext uri="{FF2B5EF4-FFF2-40B4-BE49-F238E27FC236}">
                <a16:creationId xmlns:a16="http://schemas.microsoft.com/office/drawing/2014/main" id="{A064824F-A252-2A26-42E4-B9CF16CF8F64}"/>
              </a:ext>
            </a:extLst>
          </p:cNvPr>
          <p:cNvSpPr/>
          <p:nvPr/>
        </p:nvSpPr>
        <p:spPr>
          <a:xfrm>
            <a:off x="502920" y="3673761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ES_tradnl" sz="1100" noProof="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incluye capacitación y supervisión de la gestión adecuada de actividades del personal. </a:t>
            </a:r>
            <a:endParaRPr lang="es-ES_tradnl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443484" y="123444"/>
            <a:ext cx="438912" cy="438912"/>
          </a:xfrm>
          <a:prstGeom prst="ellipse">
            <a:avLst/>
          </a:prstGeom>
          <a:solidFill>
            <a:srgbClr val="0D213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/Users/lucasb/Escritorio - MacBook Air de Lucas/Fornitalia/favicon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37160"/>
            <a:ext cx="411480" cy="411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8076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L&amp;P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r>
              <a:rPr lang="es-ES_tradnl" sz="8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800" i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s-ES_tradnl" sz="800" noProof="0" dirty="0"/>
          </a:p>
        </p:txBody>
      </p:sp>
      <p:sp>
        <p:nvSpPr>
          <p:cNvPr id="7" name="Text 4"/>
          <p:cNvSpPr/>
          <p:nvPr/>
        </p:nvSpPr>
        <p:spPr>
          <a:xfrm>
            <a:off x="960120" y="1143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generales 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13716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del negocio muestran serias inconsistencias entre las distintas fuentes de información compartidas por el cliente. </a:t>
            </a:r>
            <a:endParaRPr lang="es-ES_tradnl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estados financieros contienen errores graves en su confesión, trazabilidad y consistencia técnica.</a:t>
            </a:r>
            <a:endParaRPr lang="es-ES_tradnl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2522045"/>
            <a:ext cx="7863840" cy="642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información 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muestral (# </a:t>
            </a:r>
            <a:r>
              <a:rPr lang="es-ES_tradnl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registros de caja ) que hemos analizados se hallaron </a:t>
            </a:r>
            <a:r>
              <a:rPr lang="es-ES_tradnl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_tradnl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registraciones con alguna inconsistencia entre la categoría , cuenta contable y descripción y </a:t>
            </a:r>
            <a:r>
              <a:rPr lang="es-ES_tradnl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_tradnl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)registros potencialmente duplicados y </a:t>
            </a:r>
            <a:r>
              <a:rPr lang="es-ES_tradnl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ES_tradnl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registros sin cuenta contable.</a:t>
            </a:r>
            <a:endParaRPr lang="es-ES_tradnl" sz="1400" noProof="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6E76A688-228C-2257-E759-8E59200F6DB8}"/>
              </a:ext>
            </a:extLst>
          </p:cNvPr>
          <p:cNvSpPr/>
          <p:nvPr/>
        </p:nvSpPr>
        <p:spPr>
          <a:xfrm>
            <a:off x="672160" y="3276031"/>
            <a:ext cx="7863840" cy="642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de Mercado Pago y </a:t>
            </a:r>
            <a:r>
              <a:rPr lang="es-ES_tradnl" sz="1400" noProof="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Morva</a:t>
            </a: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pareciera que no se encuentra integrada en el sistema de la compañía, se las considera fuentes externas.</a:t>
            </a:r>
            <a:endParaRPr lang="es-ES_tradnl" sz="1400" noProof="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E64A90F-43AB-A574-074E-2655E8D740CE}"/>
              </a:ext>
            </a:extLst>
          </p:cNvPr>
          <p:cNvSpPr/>
          <p:nvPr/>
        </p:nvSpPr>
        <p:spPr>
          <a:xfrm>
            <a:off x="680176" y="3909697"/>
            <a:ext cx="7863840" cy="6422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_tradnl" sz="1400" noProof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información recibida no esta presente el tipo de </a:t>
            </a:r>
            <a:r>
              <a:rPr lang="es-ES_tradnl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aplicable a las transacciones en dólares no permitiendo una conversión de moneda que posibilite una vista en ARS y en USD del flujo de caja.</a:t>
            </a:r>
            <a:endParaRPr lang="es-ES_tradnl" sz="14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4089</TotalTime>
  <Words>299</Words>
  <Application>Microsoft Macintosh PowerPoint</Application>
  <PresentationFormat>Presentación en pantalla (4:3)</PresentationFormat>
  <Paragraphs>31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trabajo — Dashboard Flujo de Caja</dc:title>
  <dc:subject>PptxGenJS Presentation</dc:subject>
  <dc:creator>L&amp;P Financial Consulting</dc:creator>
  <cp:lastModifiedBy>Lucas Bustos</cp:lastModifiedBy>
  <cp:revision>20</cp:revision>
  <dcterms:created xsi:type="dcterms:W3CDTF">2026-03-02T04:09:32Z</dcterms:created>
  <dcterms:modified xsi:type="dcterms:W3CDTF">2026-03-10T16:36:21Z</dcterms:modified>
</cp:coreProperties>
</file>