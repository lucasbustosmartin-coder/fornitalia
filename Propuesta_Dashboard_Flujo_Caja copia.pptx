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92"/>
    <p:restoredTop sz="94610"/>
  </p:normalViewPr>
  <p:slideViewPr>
    <p:cSldViewPr snapToGrid="0" snapToObjects="1">
      <p:cViewPr>
        <p:scale>
          <a:sx n="150" d="100"/>
          <a:sy n="150" d="100"/>
        </p:scale>
        <p:origin x="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527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8288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1A1A1A"/>
                </a:solidFill>
              </a:rPr>
              <a:t>Propuesta</a:t>
            </a:r>
            <a:r>
              <a:rPr lang="en-US" sz="3200" b="1">
                <a:solidFill>
                  <a:srgbClr val="1A1A1A"/>
                </a:solidFill>
              </a:rPr>
              <a:t> de trabajo</a:t>
            </a:r>
            <a:endParaRPr lang="en-US" sz="320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333333"/>
                </a:solidFill>
              </a:rPr>
              <a:t>Dashboard de Flujo de Caja</a:t>
            </a:r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55555"/>
                </a:solidFill>
              </a:rPr>
              <a:t>Visualización, proyección y control de caja en una sola aplicación</a:t>
            </a:r>
            <a:endParaRPr lang="en-US" sz="1400"/>
          </a:p>
        </p:txBody>
      </p:sp>
      <p:sp>
        <p:nvSpPr>
          <p:cNvPr id="6" name="Text 3"/>
          <p:cNvSpPr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888888"/>
                </a:solidFill>
              </a:rPr>
              <a:t>© 2026 Developed by L&amp;P Financial Consulting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Developed by L&amp;P Financial Consulting</a:t>
            </a:r>
            <a:endParaRPr lang="en-US" sz="800"/>
          </a:p>
        </p:txBody>
      </p:sp>
      <p:sp>
        <p:nvSpPr>
          <p:cNvPr id="4" name="Text 1"/>
          <p:cNvSpPr/>
          <p:nvPr/>
        </p:nvSpPr>
        <p:spPr>
          <a:xfrm>
            <a:off x="96012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de la propuesta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7200" y="6053328"/>
            <a:ext cx="822960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333"/>
                </a:solidFill>
              </a:rPr>
              <a:t>Desarrollar un tablero de flujo de caja que permita: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▸ </a:t>
            </a:r>
            <a:r>
              <a:rPr lang="en-US" sz="1200" dirty="0" err="1">
                <a:solidFill>
                  <a:srgbClr val="444444"/>
                </a:solidFill>
              </a:rPr>
              <a:t>Visualizar</a:t>
            </a:r>
            <a:r>
              <a:rPr lang="en-US" sz="1200" dirty="0">
                <a:solidFill>
                  <a:srgbClr val="444444"/>
                </a:solidFill>
              </a:rPr>
              <a:t> </a:t>
            </a:r>
            <a:r>
              <a:rPr lang="en-US" sz="1200" dirty="0" err="1">
                <a:solidFill>
                  <a:srgbClr val="444444"/>
                </a:solidFill>
              </a:rPr>
              <a:t>ingresos</a:t>
            </a:r>
            <a:r>
              <a:rPr lang="en-US" sz="1200" dirty="0">
                <a:solidFill>
                  <a:srgbClr val="444444"/>
                </a:solidFill>
              </a:rPr>
              <a:t>, </a:t>
            </a:r>
            <a:r>
              <a:rPr lang="en-US" sz="1200" dirty="0" err="1">
                <a:solidFill>
                  <a:srgbClr val="444444"/>
                </a:solidFill>
              </a:rPr>
              <a:t>egresos</a:t>
            </a:r>
            <a:r>
              <a:rPr lang="en-US" sz="1200" dirty="0">
                <a:solidFill>
                  <a:srgbClr val="444444"/>
                </a:solidFill>
              </a:rPr>
              <a:t> y </a:t>
            </a:r>
            <a:r>
              <a:rPr lang="en-US" sz="1200" dirty="0" err="1">
                <a:solidFill>
                  <a:srgbClr val="444444"/>
                </a:solidFill>
              </a:rPr>
              <a:t>resultado</a:t>
            </a:r>
            <a:r>
              <a:rPr lang="en-US" sz="1200" dirty="0">
                <a:solidFill>
                  <a:srgbClr val="444444"/>
                </a:solidFill>
              </a:rPr>
              <a:t> (G/P) </a:t>
            </a:r>
            <a:r>
              <a:rPr lang="en-US" sz="1200" dirty="0" err="1">
                <a:solidFill>
                  <a:srgbClr val="444444"/>
                </a:solidFill>
              </a:rPr>
              <a:t>por</a:t>
            </a:r>
            <a:r>
              <a:rPr lang="en-US" sz="1200" dirty="0">
                <a:solidFill>
                  <a:srgbClr val="444444"/>
                </a:solidFill>
              </a:rPr>
              <a:t> </a:t>
            </a:r>
            <a:r>
              <a:rPr lang="en-US" sz="1200" dirty="0" err="1">
                <a:solidFill>
                  <a:srgbClr val="444444"/>
                </a:solidFill>
              </a:rPr>
              <a:t>mes</a:t>
            </a:r>
            <a:r>
              <a:rPr lang="en-US" sz="1200" dirty="0">
                <a:solidFill>
                  <a:srgbClr val="444444"/>
                </a:solidFill>
              </a:rPr>
              <a:t> </a:t>
            </a:r>
            <a:r>
              <a:rPr lang="en-US" sz="1200" dirty="0" err="1">
                <a:solidFill>
                  <a:srgbClr val="444444"/>
                </a:solidFill>
              </a:rPr>
              <a:t>en</a:t>
            </a:r>
            <a:r>
              <a:rPr lang="en-US" sz="1200" dirty="0">
                <a:solidFill>
                  <a:srgbClr val="444444"/>
                </a:solidFill>
              </a:rPr>
              <a:t> ARS o USD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</a:rPr>
              <a:t>▸ Analizar por categoría y por cuenta contable con detalle de transacciones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</a:rPr>
              <a:t>▸ Detectar inconsistencias y potenciales duplicados para corregir datos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</a:rPr>
              <a:t>▸ Proyectar los próximos meses y el interés por caución sobre el sobrante</a:t>
            </a:r>
            <a:endParaRPr lang="en-US" sz="1200"/>
          </a:p>
        </p:txBody>
      </p:sp>
      <p:sp>
        <p:nvSpPr>
          <p:cNvPr id="12" name="Text 9"/>
          <p:cNvSpPr/>
          <p:nvPr/>
        </p:nvSpPr>
        <p:spPr>
          <a:xfrm>
            <a:off x="640080" y="4434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▸ </a:t>
            </a:r>
            <a:r>
              <a:rPr lang="en-US" sz="1200" dirty="0" err="1">
                <a:solidFill>
                  <a:srgbClr val="444444"/>
                </a:solidFill>
              </a:rPr>
              <a:t>Exportación</a:t>
            </a:r>
            <a:r>
              <a:rPr lang="en-US" sz="1200" dirty="0">
                <a:solidFill>
                  <a:srgbClr val="444444"/>
                </a:solidFill>
              </a:rPr>
              <a:t> a Excel </a:t>
            </a:r>
            <a:r>
              <a:rPr lang="en-US" sz="1200" dirty="0" err="1">
                <a:solidFill>
                  <a:srgbClr val="444444"/>
                </a:solidFill>
              </a:rPr>
              <a:t>integrada</a:t>
            </a:r>
            <a:r>
              <a:rPr lang="en-US" sz="1200" dirty="0">
                <a:solidFill>
                  <a:srgbClr val="444444"/>
                </a:solidFill>
              </a:rPr>
              <a:t> </a:t>
            </a:r>
            <a:r>
              <a:rPr lang="en-US" sz="1200" dirty="0" err="1">
                <a:solidFill>
                  <a:srgbClr val="444444"/>
                </a:solidFill>
              </a:rPr>
              <a:t>en</a:t>
            </a:r>
            <a:r>
              <a:rPr lang="en-US" sz="1200" dirty="0">
                <a:solidFill>
                  <a:srgbClr val="444444"/>
                </a:solidFill>
              </a:rPr>
              <a:t> la app.</a:t>
            </a:r>
          </a:p>
          <a:p>
            <a:pPr marL="0" indent="0">
              <a:buNone/>
            </a:pPr>
            <a:endParaRPr lang="en-US" sz="1200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444444"/>
              </a:solidFill>
            </a:endParaRPr>
          </a:p>
          <a:p>
            <a:r>
              <a:rPr lang="en-US" sz="1200" dirty="0">
                <a:solidFill>
                  <a:srgbClr val="444444"/>
                </a:solidFill>
              </a:rPr>
              <a:t>▸ </a:t>
            </a:r>
            <a:r>
              <a:rPr lang="en-US" sz="1200" dirty="0" err="1">
                <a:solidFill>
                  <a:srgbClr val="444444"/>
                </a:solidFill>
              </a:rPr>
              <a:t>Creación</a:t>
            </a:r>
            <a:r>
              <a:rPr lang="en-US" sz="1200" dirty="0">
                <a:solidFill>
                  <a:srgbClr val="444444"/>
                </a:solidFill>
              </a:rPr>
              <a:t> y </a:t>
            </a:r>
            <a:r>
              <a:rPr lang="en-US" sz="1200" dirty="0" err="1">
                <a:solidFill>
                  <a:srgbClr val="444444"/>
                </a:solidFill>
              </a:rPr>
              <a:t>manejo</a:t>
            </a:r>
            <a:r>
              <a:rPr lang="en-US" sz="1200" dirty="0">
                <a:solidFill>
                  <a:srgbClr val="444444"/>
                </a:solidFill>
              </a:rPr>
              <a:t> de </a:t>
            </a:r>
            <a:r>
              <a:rPr lang="en-US" sz="1200" dirty="0" err="1">
                <a:solidFill>
                  <a:srgbClr val="444444"/>
                </a:solidFill>
              </a:rPr>
              <a:t>alertas</a:t>
            </a:r>
            <a:r>
              <a:rPr lang="en-US" sz="1200" dirty="0">
                <a:solidFill>
                  <a:srgbClr val="444444"/>
                </a:solidFill>
              </a:rPr>
              <a:t> del </a:t>
            </a:r>
            <a:r>
              <a:rPr lang="en-US" sz="1200" dirty="0" err="1">
                <a:solidFill>
                  <a:srgbClr val="444444"/>
                </a:solidFill>
              </a:rPr>
              <a:t>negocio</a:t>
            </a:r>
            <a:r>
              <a:rPr lang="en-US" sz="1200" dirty="0">
                <a:solidFill>
                  <a:srgbClr val="444444"/>
                </a:solidFill>
              </a:rPr>
              <a:t> ( </a:t>
            </a:r>
            <a:r>
              <a:rPr lang="en-US" sz="1200" dirty="0" err="1">
                <a:solidFill>
                  <a:srgbClr val="444444"/>
                </a:solidFill>
              </a:rPr>
              <a:t>Desvios</a:t>
            </a:r>
            <a:r>
              <a:rPr lang="en-US" sz="1200" dirty="0">
                <a:solidFill>
                  <a:srgbClr val="444444"/>
                </a:solidFill>
              </a:rPr>
              <a:t> </a:t>
            </a:r>
            <a:r>
              <a:rPr lang="en-US" sz="1200" dirty="0" err="1">
                <a:solidFill>
                  <a:srgbClr val="444444"/>
                </a:solidFill>
              </a:rPr>
              <a:t>por</a:t>
            </a:r>
            <a:r>
              <a:rPr lang="en-US" sz="1200" dirty="0">
                <a:solidFill>
                  <a:srgbClr val="444444"/>
                </a:solidFill>
              </a:rPr>
              <a:t> </a:t>
            </a:r>
            <a:r>
              <a:rPr lang="en-US" sz="1200" dirty="0" err="1">
                <a:solidFill>
                  <a:srgbClr val="444444"/>
                </a:solidFill>
              </a:rPr>
              <a:t>mes</a:t>
            </a:r>
            <a:r>
              <a:rPr lang="en-US" sz="1200" dirty="0">
                <a:solidFill>
                  <a:srgbClr val="444444"/>
                </a:solidFill>
              </a:rPr>
              <a:t> , </a:t>
            </a:r>
            <a:r>
              <a:rPr lang="en-US" sz="1200" dirty="0" err="1">
                <a:solidFill>
                  <a:srgbClr val="444444"/>
                </a:solidFill>
              </a:rPr>
              <a:t>deteccion</a:t>
            </a:r>
            <a:r>
              <a:rPr lang="en-US" sz="1200" dirty="0">
                <a:solidFill>
                  <a:srgbClr val="444444"/>
                </a:solidFill>
              </a:rPr>
              <a:t> de </a:t>
            </a:r>
            <a:r>
              <a:rPr lang="en-US" sz="1200" dirty="0" err="1">
                <a:solidFill>
                  <a:srgbClr val="444444"/>
                </a:solidFill>
              </a:rPr>
              <a:t>inconsistencias</a:t>
            </a:r>
            <a:r>
              <a:rPr lang="en-US" sz="1200" dirty="0">
                <a:solidFill>
                  <a:srgbClr val="444444"/>
                </a:solidFill>
              </a:rPr>
              <a:t>, </a:t>
            </a:r>
            <a:r>
              <a:rPr lang="en-US" sz="1200" dirty="0" err="1">
                <a:solidFill>
                  <a:srgbClr val="444444"/>
                </a:solidFill>
              </a:rPr>
              <a:t>etc</a:t>
            </a:r>
            <a:r>
              <a:rPr lang="en-US" sz="1200" dirty="0">
                <a:solidFill>
                  <a:srgbClr val="444444"/>
                </a:solidFill>
              </a:rPr>
              <a:t>)</a:t>
            </a:r>
          </a:p>
          <a:p>
            <a:pPr marL="0" indent="0">
              <a:buNone/>
            </a:pPr>
            <a:endParaRPr lang="en-US" sz="1200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en-US" sz="1200" dirty="0">
              <a:solidFill>
                <a:srgbClr val="444444"/>
              </a:solidFill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Developed by L&amp;P Financial Consulting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96012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</a:t>
            </a: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2400" b="1" dirty="0" err="1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555"/>
                </a:solidFill>
              </a:rPr>
              <a:t>Incluye los siguientes módulos y resultados: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</a:rPr>
              <a:t>▸ Normalización de datos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3657600" y="1463040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</a:rPr>
              <a:t>Relevamiento, limpieza y normalización de </a:t>
            </a:r>
            <a:r>
              <a:rPr lang="en-US" sz="900" err="1">
                <a:solidFill>
                  <a:srgbClr val="555555"/>
                </a:solidFill>
              </a:rPr>
              <a:t>datos</a:t>
            </a:r>
            <a:r>
              <a:rPr lang="en-US" sz="900">
                <a:solidFill>
                  <a:srgbClr val="555555"/>
                </a:solidFill>
              </a:rPr>
              <a:t> </a:t>
            </a:r>
            <a:r>
              <a:rPr lang="en-US" sz="900" err="1">
                <a:solidFill>
                  <a:srgbClr val="555555"/>
                </a:solidFill>
              </a:rPr>
              <a:t>históricos</a:t>
            </a:r>
            <a:r>
              <a:rPr lang="en-US" sz="900">
                <a:solidFill>
                  <a:srgbClr val="555555"/>
                </a:solidFill>
              </a:rPr>
              <a:t>.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457200" y="193852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</a:rPr>
              <a:t>▸ Dashboard flujo de caja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3657600" y="1938528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555555"/>
                </a:solidFill>
              </a:rPr>
              <a:t>Diseño y desarrollo del dashboard mensual (Flujo por mes, Resumen, alertas, vista </a:t>
            </a:r>
            <a:r>
              <a:rPr lang="en-US" sz="900" err="1">
                <a:solidFill>
                  <a:srgbClr val="555555"/>
                </a:solidFill>
              </a:rPr>
              <a:t>por</a:t>
            </a:r>
            <a:r>
              <a:rPr lang="en-US" sz="900">
                <a:solidFill>
                  <a:srgbClr val="555555"/>
                </a:solidFill>
              </a:rPr>
              <a:t>  </a:t>
            </a:r>
            <a:r>
              <a:rPr lang="en-US" sz="900" err="1">
                <a:solidFill>
                  <a:srgbClr val="555555"/>
                </a:solidFill>
              </a:rPr>
              <a:t>Categoría</a:t>
            </a:r>
            <a:r>
              <a:rPr lang="en-US" sz="900">
                <a:solidFill>
                  <a:srgbClr val="555555"/>
                </a:solidFill>
              </a:rPr>
              <a:t> y </a:t>
            </a:r>
            <a:r>
              <a:rPr lang="en-US" sz="900" err="1">
                <a:solidFill>
                  <a:srgbClr val="555555"/>
                </a:solidFill>
              </a:rPr>
              <a:t>por</a:t>
            </a:r>
            <a:r>
              <a:rPr lang="en-US" sz="900">
                <a:solidFill>
                  <a:srgbClr val="555555"/>
                </a:solidFill>
              </a:rPr>
              <a:t> </a:t>
            </a:r>
            <a:r>
              <a:rPr lang="en-US" sz="900" err="1">
                <a:solidFill>
                  <a:srgbClr val="555555"/>
                </a:solidFill>
              </a:rPr>
              <a:t>Cuenta</a:t>
            </a:r>
            <a:r>
              <a:rPr lang="en-US" sz="900">
                <a:solidFill>
                  <a:srgbClr val="555555"/>
                </a:solidFill>
              </a:rPr>
              <a:t>, </a:t>
            </a:r>
            <a:r>
              <a:rPr lang="en-US" sz="900" err="1">
                <a:solidFill>
                  <a:srgbClr val="555555"/>
                </a:solidFill>
              </a:rPr>
              <a:t>Contable</a:t>
            </a:r>
            <a:r>
              <a:rPr lang="en-US" sz="900">
                <a:solidFill>
                  <a:srgbClr val="555555"/>
                </a:solidFill>
              </a:rPr>
              <a:t>.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457200" y="2414016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</a:rPr>
              <a:t>▸ Detección de duplicados y gestión de errores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3657600" y="2414016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 err="1">
                <a:solidFill>
                  <a:srgbClr val="555555"/>
                </a:solidFill>
              </a:rPr>
              <a:t>Detección</a:t>
            </a:r>
            <a:r>
              <a:rPr lang="en-US" sz="900" dirty="0">
                <a:solidFill>
                  <a:srgbClr val="555555"/>
                </a:solidFill>
              </a:rPr>
              <a:t> de </a:t>
            </a:r>
            <a:r>
              <a:rPr lang="en-US" sz="900" dirty="0" err="1">
                <a:solidFill>
                  <a:srgbClr val="555555"/>
                </a:solidFill>
              </a:rPr>
              <a:t>potencial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duplicado</a:t>
            </a:r>
            <a:r>
              <a:rPr lang="en-US" sz="900" dirty="0">
                <a:solidFill>
                  <a:srgbClr val="555555"/>
                </a:solidFill>
              </a:rPr>
              <a:t> (</a:t>
            </a:r>
            <a:r>
              <a:rPr lang="en-US" sz="900" dirty="0" err="1">
                <a:solidFill>
                  <a:srgbClr val="555555"/>
                </a:solidFill>
              </a:rPr>
              <a:t>fecha</a:t>
            </a:r>
            <a:r>
              <a:rPr lang="en-US" sz="900" dirty="0">
                <a:solidFill>
                  <a:srgbClr val="555555"/>
                </a:solidFill>
              </a:rPr>
              <a:t>, </a:t>
            </a:r>
            <a:r>
              <a:rPr lang="en-US" sz="900" dirty="0" err="1">
                <a:solidFill>
                  <a:srgbClr val="555555"/>
                </a:solidFill>
              </a:rPr>
              <a:t>monto</a:t>
            </a:r>
            <a:r>
              <a:rPr lang="en-US" sz="900" dirty="0">
                <a:solidFill>
                  <a:srgbClr val="555555"/>
                </a:solidFill>
              </a:rPr>
              <a:t>, </a:t>
            </a:r>
            <a:r>
              <a:rPr lang="en-US" sz="900" dirty="0" err="1">
                <a:solidFill>
                  <a:srgbClr val="555555"/>
                </a:solidFill>
              </a:rPr>
              <a:t>tipo</a:t>
            </a:r>
            <a:r>
              <a:rPr lang="en-US" sz="900" dirty="0">
                <a:solidFill>
                  <a:srgbClr val="555555"/>
                </a:solidFill>
              </a:rPr>
              <a:t>, </a:t>
            </a:r>
            <a:r>
              <a:rPr lang="en-US" sz="900" dirty="0" err="1">
                <a:solidFill>
                  <a:srgbClr val="555555"/>
                </a:solidFill>
              </a:rPr>
              <a:t>cliente</a:t>
            </a:r>
            <a:r>
              <a:rPr lang="en-US" sz="900" dirty="0">
                <a:solidFill>
                  <a:srgbClr val="555555"/>
                </a:solidFill>
              </a:rPr>
              <a:t>, </a:t>
            </a:r>
            <a:r>
              <a:rPr lang="en-US" sz="900" dirty="0" err="1">
                <a:solidFill>
                  <a:srgbClr val="555555"/>
                </a:solidFill>
              </a:rPr>
              <a:t>descripción</a:t>
            </a:r>
            <a:r>
              <a:rPr lang="en-US" sz="900" dirty="0">
                <a:solidFill>
                  <a:srgbClr val="555555"/>
                </a:solidFill>
              </a:rPr>
              <a:t> similar), </a:t>
            </a:r>
            <a:r>
              <a:rPr lang="en-US" sz="900" dirty="0" err="1">
                <a:solidFill>
                  <a:srgbClr val="555555"/>
                </a:solidFill>
              </a:rPr>
              <a:t>tipificación</a:t>
            </a:r>
            <a:r>
              <a:rPr lang="en-US" sz="900" dirty="0">
                <a:solidFill>
                  <a:srgbClr val="555555"/>
                </a:solidFill>
              </a:rPr>
              <a:t> de </a:t>
            </a:r>
            <a:r>
              <a:rPr lang="en-US" sz="900" dirty="0" err="1">
                <a:solidFill>
                  <a:srgbClr val="555555"/>
                </a:solidFill>
              </a:rPr>
              <a:t>errores</a:t>
            </a:r>
            <a:r>
              <a:rPr lang="en-US" sz="900" dirty="0">
                <a:solidFill>
                  <a:srgbClr val="555555"/>
                </a:solidFill>
              </a:rPr>
              <a:t>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2889504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▸ </a:t>
            </a:r>
            <a:r>
              <a:rPr lang="en-US" sz="1100" b="1" dirty="0" err="1">
                <a:solidFill>
                  <a:srgbClr val="333333"/>
                </a:solidFill>
              </a:rPr>
              <a:t>Evolución</a:t>
            </a:r>
            <a:r>
              <a:rPr lang="en-US" sz="1100" b="1" dirty="0">
                <a:solidFill>
                  <a:srgbClr val="333333"/>
                </a:solidFill>
              </a:rPr>
              <a:t> del </a:t>
            </a:r>
            <a:r>
              <a:rPr lang="en-US" sz="1100" b="1" dirty="0" err="1">
                <a:solidFill>
                  <a:srgbClr val="333333"/>
                </a:solidFill>
              </a:rPr>
              <a:t>Flujo</a:t>
            </a:r>
            <a:r>
              <a:rPr lang="en-US" sz="1100" b="1" dirty="0">
                <a:solidFill>
                  <a:srgbClr val="333333"/>
                </a:solidFill>
              </a:rPr>
              <a:t> de </a:t>
            </a:r>
            <a:r>
              <a:rPr lang="en-US" sz="1100" b="1" dirty="0" err="1">
                <a:solidFill>
                  <a:srgbClr val="333333"/>
                </a:solidFill>
              </a:rPr>
              <a:t>caja</a:t>
            </a:r>
            <a:r>
              <a:rPr lang="en-US" sz="1100" b="1" dirty="0">
                <a:solidFill>
                  <a:srgbClr val="333333"/>
                </a:solidFill>
              </a:rPr>
              <a:t>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0" y="2889504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Vista de la  </a:t>
            </a:r>
            <a:r>
              <a:rPr lang="en-US" sz="900" dirty="0" err="1">
                <a:solidFill>
                  <a:srgbClr val="555555"/>
                </a:solidFill>
              </a:rPr>
              <a:t>Evolución</a:t>
            </a:r>
            <a:r>
              <a:rPr lang="en-US" sz="900" dirty="0">
                <a:solidFill>
                  <a:srgbClr val="555555"/>
                </a:solidFill>
              </a:rPr>
              <a:t> del </a:t>
            </a:r>
            <a:r>
              <a:rPr lang="en-US" sz="900" dirty="0" err="1">
                <a:solidFill>
                  <a:srgbClr val="555555"/>
                </a:solidFill>
              </a:rPr>
              <a:t>flujo</a:t>
            </a:r>
            <a:r>
              <a:rPr lang="en-US" sz="900" dirty="0">
                <a:solidFill>
                  <a:srgbClr val="555555"/>
                </a:solidFill>
              </a:rPr>
              <a:t> de </a:t>
            </a:r>
            <a:r>
              <a:rPr lang="en-US" sz="900" dirty="0" err="1">
                <a:solidFill>
                  <a:srgbClr val="555555"/>
                </a:solidFill>
              </a:rPr>
              <a:t>caja</a:t>
            </a:r>
            <a:r>
              <a:rPr lang="en-US" sz="900" dirty="0">
                <a:solidFill>
                  <a:srgbClr val="555555"/>
                </a:solidFill>
              </a:rPr>
              <a:t> tanto </a:t>
            </a:r>
            <a:r>
              <a:rPr lang="en-US" sz="900" dirty="0" err="1">
                <a:solidFill>
                  <a:srgbClr val="555555"/>
                </a:solidFill>
              </a:rPr>
              <a:t>diaria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como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mensual</a:t>
            </a:r>
            <a:r>
              <a:rPr lang="en-US" sz="900" dirty="0">
                <a:solidFill>
                  <a:srgbClr val="555555"/>
                </a:solidFill>
              </a:rPr>
              <a:t>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3364992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▸ </a:t>
            </a:r>
            <a:r>
              <a:rPr lang="en-US" sz="1100" b="1" dirty="0" err="1">
                <a:solidFill>
                  <a:srgbClr val="333333"/>
                </a:solidFill>
              </a:rPr>
              <a:t>Interés</a:t>
            </a:r>
            <a:r>
              <a:rPr lang="en-US" sz="1100" b="1">
                <a:solidFill>
                  <a:srgbClr val="333333"/>
                </a:solidFill>
              </a:rPr>
              <a:t> por caución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3657600" y="3364992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 err="1">
                <a:solidFill>
                  <a:srgbClr val="555555"/>
                </a:solidFill>
              </a:rPr>
              <a:t>Calculo</a:t>
            </a:r>
            <a:r>
              <a:rPr lang="en-US" sz="900" dirty="0">
                <a:solidFill>
                  <a:srgbClr val="555555"/>
                </a:solidFill>
              </a:rPr>
              <a:t> del </a:t>
            </a:r>
            <a:r>
              <a:rPr lang="en-US" sz="900" dirty="0" err="1">
                <a:solidFill>
                  <a:srgbClr val="555555"/>
                </a:solidFill>
              </a:rPr>
              <a:t>interes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por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caución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que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podría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generarse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si</a:t>
            </a:r>
            <a:r>
              <a:rPr lang="en-US" sz="900" dirty="0">
                <a:solidFill>
                  <a:srgbClr val="555555"/>
                </a:solidFill>
              </a:rPr>
              <a:t> se </a:t>
            </a:r>
            <a:r>
              <a:rPr lang="en-US" sz="900" dirty="0" err="1">
                <a:solidFill>
                  <a:srgbClr val="555555"/>
                </a:solidFill>
              </a:rPr>
              <a:t>colocara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parte</a:t>
            </a:r>
            <a:r>
              <a:rPr lang="en-US" sz="900" dirty="0">
                <a:solidFill>
                  <a:srgbClr val="555555"/>
                </a:solidFill>
              </a:rPr>
              <a:t> del </a:t>
            </a:r>
            <a:r>
              <a:rPr lang="en-US" sz="900" dirty="0" err="1">
                <a:solidFill>
                  <a:srgbClr val="555555"/>
                </a:solidFill>
              </a:rPr>
              <a:t>flujo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positivo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en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una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caución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todos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los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dias</a:t>
            </a:r>
            <a:r>
              <a:rPr lang="en-US" sz="900" dirty="0">
                <a:solidFill>
                  <a:srgbClr val="555555"/>
                </a:solidFill>
              </a:rPr>
              <a:t>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3840480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▸ </a:t>
            </a:r>
            <a:r>
              <a:rPr lang="en-US" sz="1100" b="1" dirty="0" err="1">
                <a:solidFill>
                  <a:srgbClr val="333333"/>
                </a:solidFill>
              </a:rPr>
              <a:t>Proyección</a:t>
            </a:r>
            <a:r>
              <a:rPr lang="en-US" sz="1100" b="1" dirty="0">
                <a:solidFill>
                  <a:srgbClr val="333333"/>
                </a:solidFill>
              </a:rPr>
              <a:t> de </a:t>
            </a:r>
            <a:r>
              <a:rPr lang="en-US" sz="1100" b="1" dirty="0" err="1">
                <a:solidFill>
                  <a:srgbClr val="333333"/>
                </a:solidFill>
              </a:rPr>
              <a:t>flujo</a:t>
            </a:r>
            <a:r>
              <a:rPr lang="en-US" sz="1100" b="1" dirty="0">
                <a:solidFill>
                  <a:srgbClr val="333333"/>
                </a:solidFill>
              </a:rPr>
              <a:t> configurable.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0" y="3840480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 err="1">
                <a:solidFill>
                  <a:srgbClr val="555555"/>
                </a:solidFill>
              </a:rPr>
              <a:t>Proyección</a:t>
            </a:r>
            <a:r>
              <a:rPr lang="en-US" sz="900" dirty="0">
                <a:solidFill>
                  <a:srgbClr val="555555"/>
                </a:solidFill>
              </a:rPr>
              <a:t> de </a:t>
            </a:r>
            <a:r>
              <a:rPr lang="en-US" sz="900" dirty="0" err="1">
                <a:solidFill>
                  <a:srgbClr val="555555"/>
                </a:solidFill>
              </a:rPr>
              <a:t>ingresos</a:t>
            </a:r>
            <a:r>
              <a:rPr lang="en-US" sz="900" dirty="0">
                <a:solidFill>
                  <a:srgbClr val="555555"/>
                </a:solidFill>
              </a:rPr>
              <a:t>, </a:t>
            </a:r>
            <a:r>
              <a:rPr lang="en-US" sz="900" dirty="0" err="1">
                <a:solidFill>
                  <a:srgbClr val="555555"/>
                </a:solidFill>
              </a:rPr>
              <a:t>egresos</a:t>
            </a:r>
            <a:r>
              <a:rPr lang="en-US" sz="900" dirty="0">
                <a:solidFill>
                  <a:srgbClr val="555555"/>
                </a:solidFill>
              </a:rPr>
              <a:t>, G/P y ratios </a:t>
            </a:r>
            <a:r>
              <a:rPr lang="en-US" sz="900" dirty="0" err="1">
                <a:solidFill>
                  <a:srgbClr val="555555"/>
                </a:solidFill>
              </a:rPr>
              <a:t>configurables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por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el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cliente</a:t>
            </a:r>
            <a:r>
              <a:rPr lang="en-US" sz="900" dirty="0">
                <a:solidFill>
                  <a:srgbClr val="555555"/>
                </a:solidFill>
              </a:rPr>
              <a:t>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315968"/>
            <a:ext cx="31089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333333"/>
                </a:solidFill>
              </a:rPr>
              <a:t>▸ Listado y edición completa de transacciones</a:t>
            </a:r>
            <a:endParaRPr lang="en-US" sz="1100"/>
          </a:p>
        </p:txBody>
      </p:sp>
      <p:sp>
        <p:nvSpPr>
          <p:cNvPr id="19" name="Text 16"/>
          <p:cNvSpPr/>
          <p:nvPr/>
        </p:nvSpPr>
        <p:spPr>
          <a:xfrm>
            <a:off x="3657600" y="4315968"/>
            <a:ext cx="5257800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900" dirty="0" err="1">
                <a:solidFill>
                  <a:srgbClr val="555555"/>
                </a:solidFill>
              </a:rPr>
              <a:t>Detalle</a:t>
            </a:r>
            <a:r>
              <a:rPr lang="en-US" sz="900" dirty="0">
                <a:solidFill>
                  <a:srgbClr val="555555"/>
                </a:solidFill>
              </a:rPr>
              <a:t> y </a:t>
            </a:r>
            <a:r>
              <a:rPr lang="en-US" sz="900" dirty="0" err="1">
                <a:solidFill>
                  <a:srgbClr val="555555"/>
                </a:solidFill>
              </a:rPr>
              <a:t>edicion</a:t>
            </a:r>
            <a:r>
              <a:rPr lang="en-US" sz="900" dirty="0">
                <a:solidFill>
                  <a:srgbClr val="555555"/>
                </a:solidFill>
              </a:rPr>
              <a:t> </a:t>
            </a:r>
            <a:r>
              <a:rPr lang="en-US" sz="900" dirty="0" err="1">
                <a:solidFill>
                  <a:srgbClr val="555555"/>
                </a:solidFill>
              </a:rPr>
              <a:t>todas</a:t>
            </a:r>
            <a:r>
              <a:rPr lang="en-US" sz="900" dirty="0">
                <a:solidFill>
                  <a:srgbClr val="555555"/>
                </a:solidFill>
              </a:rPr>
              <a:t> las </a:t>
            </a:r>
            <a:r>
              <a:rPr lang="en-US" sz="900" dirty="0" err="1">
                <a:solidFill>
                  <a:srgbClr val="555555"/>
                </a:solidFill>
              </a:rPr>
              <a:t>transacciones</a:t>
            </a:r>
            <a:r>
              <a:rPr lang="en-US" sz="900" dirty="0">
                <a:solidFill>
                  <a:srgbClr val="555555"/>
                </a:solidFill>
              </a:rPr>
              <a:t> de </a:t>
            </a:r>
            <a:r>
              <a:rPr lang="en-US" sz="900" dirty="0" err="1">
                <a:solidFill>
                  <a:srgbClr val="555555"/>
                </a:solidFill>
              </a:rPr>
              <a:t>caja</a:t>
            </a:r>
            <a:r>
              <a:rPr lang="en-US" sz="900" dirty="0">
                <a:solidFill>
                  <a:srgbClr val="555555"/>
                </a:solidFill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Developed by L&amp;P Financial Consulting</a:t>
            </a:r>
            <a:endParaRPr lang="en-US" sz="800"/>
          </a:p>
        </p:txBody>
      </p:sp>
      <p:sp>
        <p:nvSpPr>
          <p:cNvPr id="4" name="Text 1"/>
          <p:cNvSpPr/>
          <p:nvPr/>
        </p:nvSpPr>
        <p:spPr>
          <a:xfrm>
            <a:off x="96012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destacadas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7200" y="6053328"/>
            <a:ext cx="822960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</a:rPr>
              <a:t>▸ Flujo por mes con ingresos, egresos, G/P, ratios y columna de interés por caución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640080" y="17647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</a:rPr>
              <a:t>▸ Alertas configurables: mes sin egresos, sin Sueldos/Comisiones/Alquileres/Impuestos, desvío % por categoría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640080" y="22951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</a:rPr>
              <a:t>▸ Modal de detalle por mes: por Categoría y por Cuenta contable; gráfico de serie mensual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640080" y="282549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</a:rPr>
              <a:t>▸ Solapa Errores: detección de inconsistencias y duplicados; edición desde el mismo tablero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640080" y="335584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</a:rPr>
              <a:t>▸ Solapa Evolución: tabla dinámica por categoría o cuenta y período diario o mensual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</a:rPr>
              <a:t>▸ Proyección de los próximos meses con método configurable (mediana/promedio, ventana rodante)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640080" y="44165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</a:rPr>
              <a:t>▸ Exportación a Excel de transacciones, errores y evolución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640080" y="494690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444444"/>
                </a:solidFill>
              </a:rPr>
              <a:t>▸ Configuración por usuario (proyección, caución, alertas) guardada en la nube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Developed by L&amp;P Financial Consulting</a:t>
            </a:r>
            <a:endParaRPr lang="en-US" sz="800"/>
          </a:p>
        </p:txBody>
      </p:sp>
      <p:sp>
        <p:nvSpPr>
          <p:cNvPr id="4" name="Text 1"/>
          <p:cNvSpPr/>
          <p:nvPr/>
        </p:nvSpPr>
        <p:spPr>
          <a:xfrm>
            <a:off x="96012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estimado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7200" y="6053328"/>
            <a:ext cx="822960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029211"/>
              </p:ext>
            </p:extLst>
          </p:nvPr>
        </p:nvGraphicFramePr>
        <p:xfrm>
          <a:off x="457200" y="1417320"/>
          <a:ext cx="8229600" cy="30480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Entregable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Horas </a:t>
                      </a:r>
                      <a:r>
                        <a:rPr lang="en-US" sz="1000" dirty="0" err="1">
                          <a:solidFill>
                            <a:srgbClr val="FFFFFF"/>
                          </a:solidFill>
                        </a:rPr>
                        <a:t>Trabajo</a:t>
                      </a:r>
                      <a:endParaRPr lang="en-US" sz="10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</a:rPr>
                        <a:t>Importe (USD)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Normalización de datos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Dashboard flujo de caja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2500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Detección de duplicados y gestión de e…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Evolución (tabla dinámica)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Interés por caución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Proyección de flujo (próximos 3 meses)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Listado y edición completa de transacc…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Bitácora y documentación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Integración y despliegue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Mantenimiento y soporte inicial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Total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55</a:t>
                      </a:r>
                      <a:endParaRPr lang="en-US" sz="100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5500</a:t>
                      </a:r>
                      <a:endParaRPr lang="en-US" sz="10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2137"/>
                </a:solidFill>
              </a:rPr>
              <a:t>Total: 55 horas hombre · 5,500 USD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Developed by L&amp;P Financial Consulting</a:t>
            </a:r>
            <a:endParaRPr lang="en-US" sz="800"/>
          </a:p>
        </p:txBody>
      </p:sp>
      <p:sp>
        <p:nvSpPr>
          <p:cNvPr id="4" name="Text 1"/>
          <p:cNvSpPr/>
          <p:nvPr/>
        </p:nvSpPr>
        <p:spPr>
          <a:xfrm>
            <a:off x="96012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2400"/>
          </a:p>
        </p:txBody>
      </p:sp>
      <p:sp>
        <p:nvSpPr>
          <p:cNvPr id="5" name="Shape 2"/>
          <p:cNvSpPr/>
          <p:nvPr/>
        </p:nvSpPr>
        <p:spPr>
          <a:xfrm>
            <a:off x="457200" y="658368"/>
            <a:ext cx="822960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7200" y="6053328"/>
            <a:ext cx="8229600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333"/>
                </a:solidFill>
              </a:rPr>
              <a:t>▸ Definición de alcance y prioridades según su necesidad.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333"/>
                </a:solidFill>
              </a:rPr>
              <a:t>▸ Ajuste de presupuesto y plazos en función del alcance acordado.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33333"/>
                </a:solidFill>
              </a:rPr>
              <a:t>▸ Desarrollo por fases con entregas parciales y revisión continua.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2137"/>
                </a:solidFill>
              </a:rPr>
              <a:t>Gracias por su confianza.</a:t>
            </a:r>
            <a:endParaRPr lang="en-US" sz="1800"/>
          </a:p>
        </p:txBody>
      </p:sp>
      <p:sp>
        <p:nvSpPr>
          <p:cNvPr id="11" name="Text 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55555"/>
                </a:solidFill>
              </a:rPr>
              <a:t>L&amp;P Financial Consulting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603</Words>
  <Application>Microsoft Macintosh PowerPoint</Application>
  <PresentationFormat>Presentación en pantalla (4:3)</PresentationFormat>
  <Paragraphs>96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 — Dashboard Flujo de Caja</dc:title>
  <dc:subject>PptxGenJS Presentation</dc:subject>
  <dc:creator>L&amp;P Financial Consulting</dc:creator>
  <cp:lastModifiedBy>Lucas Bustos</cp:lastModifiedBy>
  <cp:revision>2</cp:revision>
  <dcterms:created xsi:type="dcterms:W3CDTF">2026-03-02T03:28:06Z</dcterms:created>
  <dcterms:modified xsi:type="dcterms:W3CDTF">2026-03-02T03:42:50Z</dcterms:modified>
</cp:coreProperties>
</file>