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36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0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3932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2286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32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trabajo</a:t>
            </a:r>
            <a:endParaRPr lang="es-ES_tradnl" sz="3200" noProof="0" dirty="0"/>
          </a:p>
        </p:txBody>
      </p:sp>
      <p:sp>
        <p:nvSpPr>
          <p:cNvPr id="4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240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ES_tradnl" sz="2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Flujo de Caja</a:t>
            </a:r>
            <a:endParaRPr lang="es-ES_tradnl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4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Visualización, proyección y control de caja simple, intuitiva y ágil.</a:t>
            </a:r>
            <a:endParaRPr lang="es-ES_tradnl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800" i="1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</a:t>
            </a:r>
            <a:r>
              <a:rPr lang="es-ES_tradnl" sz="800" i="1" noProof="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r>
              <a:rPr lang="es-ES_tradnl" sz="800" i="1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_tradnl" sz="800" i="1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L&amp;P </a:t>
            </a:r>
            <a:r>
              <a:rPr lang="es-ES_tradnl" sz="800" i="1" noProof="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800" i="1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8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L&amp;P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800" noProof="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la propuesta</a:t>
            </a:r>
            <a:endParaRPr lang="es-ES_tradnl" sz="2400" noProof="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tablero de flujo de caja que permita:</a:t>
            </a:r>
            <a:endParaRPr lang="es-ES_tradnl" sz="14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Visualización  </a:t>
            </a:r>
            <a:r>
              <a:rPr lang="es-ES_tradnl" sz="1200" noProof="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s-ES_tradnl" sz="12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page de  ingresos, egresos y resultado (G/P) por mes en ARS o USD</a:t>
            </a:r>
            <a:endParaRPr lang="es-ES_tradnl" sz="1200" noProof="0" dirty="0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Despliegue por categoría o cuenta contable con zoom del detalle de transacciones en un clic.</a:t>
            </a:r>
            <a:endParaRPr lang="es-ES_tradnl" sz="1200" noProof="0" dirty="0"/>
          </a:p>
        </p:txBody>
      </p:sp>
      <p:sp>
        <p:nvSpPr>
          <p:cNvPr id="11" name="Text 8"/>
          <p:cNvSpPr/>
          <p:nvPr/>
        </p:nvSpPr>
        <p:spPr>
          <a:xfrm>
            <a:off x="640080" y="3063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Construcción de un Tablero de Control con indicadores clave del Negocio.</a:t>
            </a:r>
            <a:endParaRPr lang="es-ES_tradnl" sz="1200" noProof="0" dirty="0"/>
          </a:p>
        </p:txBody>
      </p:sp>
      <p:sp>
        <p:nvSpPr>
          <p:cNvPr id="12" name="Text 9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Calculo  automático del resultado mensual proyectado y alertas de gestión automáticamente.</a:t>
            </a:r>
            <a:endParaRPr lang="es-ES_tradnl" sz="1200" noProof="0" dirty="0"/>
          </a:p>
        </p:txBody>
      </p:sp>
      <p:sp>
        <p:nvSpPr>
          <p:cNvPr id="13" name="Text 10"/>
          <p:cNvSpPr/>
          <p:nvPr/>
        </p:nvSpPr>
        <p:spPr>
          <a:xfrm>
            <a:off x="640080" y="4434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Exportación de  datos a Excel rápida y ágil de la información relevante.</a:t>
            </a:r>
            <a:endParaRPr lang="es-ES_tradnl" sz="12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L&amp;P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800" noProof="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— Entregables</a:t>
            </a:r>
            <a:endParaRPr lang="es-ES_tradnl" sz="2400" noProof="0" dirty="0"/>
          </a:p>
        </p:txBody>
      </p:sp>
      <p:sp>
        <p:nvSpPr>
          <p:cNvPr id="8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los siguientes entregables y resultados:</a:t>
            </a:r>
            <a:endParaRPr lang="es-ES_tradnl" sz="1200" noProof="0" dirty="0"/>
          </a:p>
        </p:txBody>
      </p:sp>
      <p:sp>
        <p:nvSpPr>
          <p:cNvPr id="9" name="Text 6"/>
          <p:cNvSpPr/>
          <p:nvPr/>
        </p:nvSpPr>
        <p:spPr>
          <a:xfrm>
            <a:off x="868680" y="149120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Normalización de datos.</a:t>
            </a:r>
            <a:endParaRPr lang="es-ES_tradnl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3804745" y="1489841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s-ES_tradnl" sz="9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Relevamiento, limpieza y normalización de datos históricos de caja (campos de moneda, categorías, cuenta contable, rubro del balance.</a:t>
            </a:r>
            <a:endParaRPr lang="es-ES_tradnl" sz="900" noProof="0" dirty="0"/>
          </a:p>
        </p:txBody>
      </p:sp>
      <p:sp>
        <p:nvSpPr>
          <p:cNvPr id="11" name="Text 8"/>
          <p:cNvSpPr/>
          <p:nvPr/>
        </p:nvSpPr>
        <p:spPr>
          <a:xfrm>
            <a:off x="868680" y="196669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Determinación del Costo de Mercadería.</a:t>
            </a:r>
            <a:endParaRPr lang="es-ES_tradnl" sz="1100" noProof="0" dirty="0"/>
          </a:p>
        </p:txBody>
      </p:sp>
      <p:sp>
        <p:nvSpPr>
          <p:cNvPr id="12" name="Text 9"/>
          <p:cNvSpPr/>
          <p:nvPr/>
        </p:nvSpPr>
        <p:spPr>
          <a:xfrm>
            <a:off x="3804745" y="1965329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s-ES_tradnl" sz="9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determinación técnica del Costo de Mercadería por producto.</a:t>
            </a:r>
            <a:endParaRPr lang="es-ES_tradnl" sz="900" noProof="0" dirty="0"/>
          </a:p>
        </p:txBody>
      </p:sp>
      <p:sp>
        <p:nvSpPr>
          <p:cNvPr id="15" name="Text 12"/>
          <p:cNvSpPr/>
          <p:nvPr/>
        </p:nvSpPr>
        <p:spPr>
          <a:xfrm>
            <a:off x="868680" y="291767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Evolución del Negocio.</a:t>
            </a:r>
            <a:endParaRPr lang="es-ES_tradnl" sz="11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3804745" y="2916305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s-ES_tradnl" sz="900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un Tablero de Control de los principales indicadores del Negocio y una vista mensual comparativa de su evolución.</a:t>
            </a:r>
            <a:endParaRPr lang="es-ES_tradnl" sz="9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868680" y="339316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Costo de Oportunidad</a:t>
            </a:r>
            <a:endParaRPr lang="es-ES_tradnl" sz="11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3804745" y="3391793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s-ES_tradnl" sz="900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y fijar un stock de liquidez dinámico que permita rendimientos crecientes del capital inmovilizado.</a:t>
            </a:r>
            <a:endParaRPr lang="es-ES_tradnl" sz="9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F2EBCD47-60BC-91AE-FD24-5F82BFDD23C9}"/>
              </a:ext>
            </a:extLst>
          </p:cNvPr>
          <p:cNvSpPr/>
          <p:nvPr/>
        </p:nvSpPr>
        <p:spPr>
          <a:xfrm>
            <a:off x="868680" y="239189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s-ES_tradnl" sz="1100" b="1" noProof="0" dirty="0" err="1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ES_tradnl" sz="1100" b="1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flujo de caja</a:t>
            </a:r>
            <a:endParaRPr lang="es-ES_tradnl" sz="11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8C2CCE42-F187-2E57-31C7-4D1AAA6AE9DD}"/>
              </a:ext>
            </a:extLst>
          </p:cNvPr>
          <p:cNvSpPr/>
          <p:nvPr/>
        </p:nvSpPr>
        <p:spPr>
          <a:xfrm>
            <a:off x="3804745" y="2390525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s-ES_tradnl" sz="900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desarrollo del </a:t>
            </a:r>
            <a:r>
              <a:rPr lang="es-ES_tradnl" sz="900" noProof="0" dirty="0" err="1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ES_tradnl" sz="900" noProof="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mensual (Flujo por mes, Resumen, alertas, vista por Categoría o Cuenta Contable.</a:t>
            </a:r>
            <a:endParaRPr lang="es-ES_tradnl" sz="9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Conector fuera de página 12">
            <a:extLst>
              <a:ext uri="{FF2B5EF4-FFF2-40B4-BE49-F238E27FC236}">
                <a16:creationId xmlns:a16="http://schemas.microsoft.com/office/drawing/2014/main" id="{8E689494-0A71-B375-8176-BE585E64DF59}"/>
              </a:ext>
            </a:extLst>
          </p:cNvPr>
          <p:cNvSpPr/>
          <p:nvPr/>
        </p:nvSpPr>
        <p:spPr>
          <a:xfrm rot="16200000">
            <a:off x="251519" y="1794218"/>
            <a:ext cx="888671" cy="325854"/>
          </a:xfrm>
          <a:prstGeom prst="flowChartOffpage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300" noProof="0" dirty="0">
                <a:solidFill>
                  <a:schemeClr val="tx1"/>
                </a:solidFill>
              </a:rPr>
              <a:t>F</a:t>
            </a:r>
            <a:r>
              <a:rPr lang="es-ES_tradnl" sz="1500" noProof="0" dirty="0">
                <a:solidFill>
                  <a:schemeClr val="tx1"/>
                </a:solidFill>
                <a:latin typeface="Calibri" panose="020F0502020204030204" pitchFamily="34" charset="0"/>
              </a:rPr>
              <a:t>ase 1</a:t>
            </a:r>
          </a:p>
        </p:txBody>
      </p:sp>
      <p:sp>
        <p:nvSpPr>
          <p:cNvPr id="14" name="Conector fuera de página 13">
            <a:extLst>
              <a:ext uri="{FF2B5EF4-FFF2-40B4-BE49-F238E27FC236}">
                <a16:creationId xmlns:a16="http://schemas.microsoft.com/office/drawing/2014/main" id="{11710F3E-0489-8289-D881-998876B37F1F}"/>
              </a:ext>
            </a:extLst>
          </p:cNvPr>
          <p:cNvSpPr/>
          <p:nvPr/>
        </p:nvSpPr>
        <p:spPr>
          <a:xfrm rot="16200000">
            <a:off x="79673" y="2854737"/>
            <a:ext cx="1232366" cy="325858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300" noProof="0" dirty="0">
                <a:solidFill>
                  <a:schemeClr val="bg2"/>
                </a:solidFill>
              </a:rPr>
              <a:t>F</a:t>
            </a:r>
            <a:r>
              <a:rPr lang="es-ES_tradnl" sz="1500" noProof="0" dirty="0">
                <a:solidFill>
                  <a:schemeClr val="bg2"/>
                </a:solidFill>
                <a:latin typeface="Calibri" panose="020F0502020204030204" pitchFamily="34" charset="0"/>
              </a:rPr>
              <a:t>ase 2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278625E0-E7EA-ADB6-94B9-B80D332C9D6D}"/>
              </a:ext>
            </a:extLst>
          </p:cNvPr>
          <p:cNvCxnSpPr/>
          <p:nvPr/>
        </p:nvCxnSpPr>
        <p:spPr>
          <a:xfrm flipV="1">
            <a:off x="882396" y="2390525"/>
            <a:ext cx="8180149" cy="10956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L&amp;P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800" noProof="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destacadas</a:t>
            </a:r>
            <a:endParaRPr lang="es-ES_tradnl" sz="24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Flujo por mes con ingresos, egresos, G/P, ratios y columna de interés por caución</a:t>
            </a:r>
            <a:endParaRPr lang="es-ES_tradnl" sz="11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176479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Alertas sobre Indicadores claves del negocio y potenciales errores que afectan al modelado de datos.</a:t>
            </a:r>
            <a:endParaRPr lang="es-ES_tradnl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640080" y="229514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Vistas  evolutivas por Categoría y por Cuenta contable tanto en modo tabla como graficas.</a:t>
            </a:r>
            <a:endParaRPr lang="es-ES_tradnl" sz="1100" noProof="0" dirty="0"/>
          </a:p>
        </p:txBody>
      </p:sp>
      <p:sp>
        <p:nvSpPr>
          <p:cNvPr id="13" name="Text 10"/>
          <p:cNvSpPr/>
          <p:nvPr/>
        </p:nvSpPr>
        <p:spPr>
          <a:xfrm>
            <a:off x="640080" y="286207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Proyección de los próximos meses con método configurable (mediana/promedio, ventana rodante)</a:t>
            </a:r>
            <a:endParaRPr lang="es-ES_tradnl" sz="1100" noProof="0" dirty="0"/>
          </a:p>
        </p:txBody>
      </p:sp>
      <p:sp>
        <p:nvSpPr>
          <p:cNvPr id="14" name="Text 11"/>
          <p:cNvSpPr/>
          <p:nvPr/>
        </p:nvSpPr>
        <p:spPr>
          <a:xfrm>
            <a:off x="662940" y="349300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Exportación a Excel de toda la información relevante del negocio.</a:t>
            </a:r>
            <a:endParaRPr lang="es-ES_tradnl" sz="11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L&amp;P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800" noProof="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Fase 1</a:t>
            </a:r>
            <a:endParaRPr lang="es-ES_tradnl" sz="2400" noProof="0" dirty="0"/>
          </a:p>
        </p:txBody>
      </p:sp>
      <p:sp>
        <p:nvSpPr>
          <p:cNvPr id="8" name="Text 5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hombre e importes en USD según bitácora.</a:t>
            </a:r>
            <a:endParaRPr lang="es-ES_tradnl" sz="1000" noProof="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553449"/>
              </p:ext>
            </p:extLst>
          </p:nvPr>
        </p:nvGraphicFramePr>
        <p:xfrm>
          <a:off x="457200" y="1417320"/>
          <a:ext cx="8229600" cy="1778000"/>
        </p:xfrm>
        <a:graphic>
          <a:graphicData uri="http://schemas.openxmlformats.org/drawingml/2006/table">
            <a:tbl>
              <a:tblPr/>
              <a:tblGrid>
                <a:gridCol w="621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Entregable</a:t>
                      </a:r>
                      <a:endParaRPr lang="es-ES_tradnl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Horas</a:t>
                      </a:r>
                      <a:endParaRPr lang="es-ES_tradnl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Importe (USD)</a:t>
                      </a:r>
                      <a:endParaRPr lang="es-ES_tradnl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Normalización de datos</a:t>
                      </a:r>
                      <a:endParaRPr lang="es-ES_tradnl" sz="1000" b="1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20 </a:t>
                      </a:r>
                      <a:endParaRPr lang="es-ES_tradnl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2.000</a:t>
                      </a:r>
                      <a:endParaRPr lang="es-ES_tradnl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b="1" noProof="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Determinación del Costo de Mercadería.</a:t>
                      </a:r>
                      <a:endParaRPr lang="es-ES_tradnl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10  </a:t>
                      </a:r>
                      <a:endParaRPr lang="es-ES_tradnl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s-ES_tradnl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b="1" noProof="0" dirty="0" err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r>
                        <a:rPr lang="es-ES_tradnl" sz="1000" b="1" noProof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flujo de caja</a:t>
                      </a:r>
                      <a:endParaRPr lang="es-ES_tradnl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Fase 2</a:t>
                      </a:r>
                      <a:endParaRPr lang="es-ES_tradnl" sz="1000" noProof="0" dirty="0">
                        <a:solidFill>
                          <a:schemeClr val="bg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Aplica</a:t>
                      </a:r>
                      <a:endParaRPr lang="es-ES_tradnl" sz="1000" noProof="0" dirty="0">
                        <a:solidFill>
                          <a:schemeClr val="bg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b="1" noProof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Evolución del Negocio.</a:t>
                      </a:r>
                      <a:endParaRPr lang="es-ES_tradnl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Fase 2</a:t>
                      </a:r>
                      <a:endParaRPr lang="es-ES_tradnl" sz="1000" noProof="0" dirty="0">
                        <a:solidFill>
                          <a:schemeClr val="bg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Aplica</a:t>
                      </a:r>
                      <a:endParaRPr lang="es-ES_tradnl" sz="1000" noProof="0" dirty="0">
                        <a:solidFill>
                          <a:schemeClr val="bg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b="1" noProof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de Oportunidad</a:t>
                      </a:r>
                      <a:endParaRPr lang="es-ES_tradnl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Fase 2</a:t>
                      </a:r>
                      <a:endParaRPr lang="es-ES_tradnl" sz="1000" noProof="0" dirty="0">
                        <a:solidFill>
                          <a:schemeClr val="bg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Aplica</a:t>
                      </a:r>
                      <a:endParaRPr lang="es-ES_tradnl" sz="1000" noProof="0" dirty="0">
                        <a:solidFill>
                          <a:schemeClr val="bg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b="1" noProof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Honorario de asesoramiento mensual</a:t>
                      </a:r>
                      <a:endParaRPr lang="es-ES_tradnl" sz="1000" b="1" noProof="0" dirty="0">
                        <a:solidFill>
                          <a:schemeClr val="bg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Fase 3</a:t>
                      </a:r>
                      <a:endParaRPr lang="es-ES_tradnl" sz="1000" noProof="0" dirty="0">
                        <a:solidFill>
                          <a:schemeClr val="bg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Aplica</a:t>
                      </a:r>
                      <a:endParaRPr lang="es-ES_tradnl" sz="1000" noProof="0" dirty="0">
                        <a:solidFill>
                          <a:schemeClr val="bg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43484" y="3296921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b="1" noProof="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25 horas hombre · 3.000 USD</a:t>
            </a:r>
            <a:endParaRPr lang="es-ES_tradnl" sz="12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L&amp;P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800" noProof="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s-ES_tradnl" sz="24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Definición de alcance y prioridades según su necesidad.</a:t>
            </a:r>
            <a:endParaRPr lang="es-ES_tradnl" sz="14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Ajuste de presupuesto y plazos en función del alcance y disponibilidad.</a:t>
            </a:r>
            <a:endParaRPr lang="es-ES_tradnl" sz="1400" noProof="0" dirty="0"/>
          </a:p>
        </p:txBody>
      </p:sp>
      <p:sp>
        <p:nvSpPr>
          <p:cNvPr id="10" name="Text 7"/>
          <p:cNvSpPr/>
          <p:nvPr/>
        </p:nvSpPr>
        <p:spPr>
          <a:xfrm>
            <a:off x="640080" y="2468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Desarrollo por fases con entregas parciales y revisión continua.</a:t>
            </a:r>
            <a:endParaRPr lang="es-ES_tradnl" sz="1400" noProof="0" dirty="0"/>
          </a:p>
        </p:txBody>
      </p:sp>
      <p:sp>
        <p:nvSpPr>
          <p:cNvPr id="11" name="Text 8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800" b="1" noProof="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confianza.</a:t>
            </a:r>
            <a:endParaRPr lang="es-ES_tradnl" sz="1800" noProof="0" dirty="0"/>
          </a:p>
        </p:txBody>
      </p:sp>
      <p:sp>
        <p:nvSpPr>
          <p:cNvPr id="12" name="Text 9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2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L&amp;P </a:t>
            </a:r>
            <a:r>
              <a:rPr lang="es-ES_tradnl" sz="1200" noProof="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12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1200" noProof="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12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2962</TotalTime>
  <Words>508</Words>
  <Application>Microsoft Macintosh PowerPoint</Application>
  <PresentationFormat>Presentación en pantalla (4:3)</PresentationFormat>
  <Paragraphs>72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trabajo — Dashboard Flujo de Caja</dc:title>
  <dc:subject>PptxGenJS Presentation</dc:subject>
  <dc:creator>L&amp;P Financial Consulting</dc:creator>
  <cp:lastModifiedBy>Lucas Bustos</cp:lastModifiedBy>
  <cp:revision>16</cp:revision>
  <dcterms:created xsi:type="dcterms:W3CDTF">2026-03-02T04:09:32Z</dcterms:created>
  <dcterms:modified xsi:type="dcterms:W3CDTF">2026-03-10T15:53:12Z</dcterms:modified>
</cp:coreProperties>
</file>